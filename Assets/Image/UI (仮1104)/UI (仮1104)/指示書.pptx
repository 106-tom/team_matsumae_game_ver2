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67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8A26C7-E7D0-8550-F640-0E5F1CEAC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31D006-0606-0261-CE9C-DD805ED93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890C10-8D39-8116-1033-B820C5B1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473F16-ECA0-4660-7E8F-3D523BE8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399E0C-C858-BFA9-8C1A-5A860C09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82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E57EE9-D0CD-CB83-6264-BAE41433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73223-C13D-2F5D-1CF4-4338E7B7C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9A9FBE-3ED7-FD21-A06F-8BE7B10C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B4094A-E0FF-2F72-5754-2D1CD180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31C152-48E4-7C1B-093F-5CD43253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809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56FDAB-4F04-C81B-49C3-20E7E5EEC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CE03F7-9725-808D-EDBE-A9AC23894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0FE7E0-E3CD-7C8B-7FCF-08F8D759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4A05E-8217-1268-ABE4-4B205BFF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390278-AB0F-AF9C-C9B4-0B82DE11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577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5D8A0-A2A3-C029-DB37-6EB4BCDA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39D9B0-929F-D66D-1190-6D47A5D4F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882BCD-47DC-7B98-ABEC-B78D9FE6F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45A82E-03ED-8310-7009-F7DEEF02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DCE559-BF62-54F4-463F-B44B1304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7561D7-856E-2461-8689-D3F9A0CE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76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B34F41-63A3-CA83-B7B2-CB3E8BBF9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955E3F-5292-C4BE-DC8A-4D01A38C0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32CEA1-78AB-9D80-C03D-F0CBAC7C5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503A62-8D40-F733-11B8-7C000757F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9C7CD4-3436-4481-3844-AE7F6C04B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FCC8C56-820E-1D2F-BE89-0963FB6E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61D12D8-BB4E-124C-EAB4-110666A7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A1792C-A373-7CC8-AA9B-B3F8AF57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92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4D42F2-F9E8-1A4A-72EF-AA6A1E66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61D2A49-474D-B293-7743-E5E914E9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730E69-5DDB-0B7A-C96F-C627F7258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C67AE8-AAC5-1FDB-01BC-9A8CC0F1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82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F9628E0-A371-0834-A217-754E50767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C87E82-37B8-CDBF-2B4F-76CF56EC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9010FA-E113-AB82-DDE3-A5C6E3F8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45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611F1D-5EA3-F008-CA62-EECA7205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7E4287-965A-206B-BDA4-B797260D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C32487-AD60-2EA8-2635-195102DD5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717F78-C582-D1B6-D752-DC52F0FF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FCC513-67B3-3B67-60F8-275C3A31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3D63C1-784B-2911-D02B-2D6D8582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34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21A8AE-6DE4-23C3-F980-EC7C20E6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5AA4F9-82F3-673C-08CF-EA57242AD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308894-D534-A655-9816-350545E08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2D5F55-7026-6A2D-61C9-F5535681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A39CA9-8CE5-33A2-96D4-331087D1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85DC91-95FF-71C9-F0E7-F9E6EA99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63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6FCCBD-9910-5D5A-84BB-BA02B0DB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C142EE-3025-C4D3-4B7B-218572654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93F749-A5B6-6C10-A9F8-94E8EEB1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8D753-80AD-335C-6B91-C5BA1A3F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7D74D5-8260-9577-D825-B5F2CC8A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9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A68E7B2-6842-066F-59F2-3B361549B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147546-EFFE-7F36-C7A5-90E937F87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4407F-4359-8F70-EBB8-DA9C8EF2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A3F33B-B511-1A11-799D-7CA29092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2F32ED-D429-922F-1736-EA220962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93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F2B297-6B5D-E980-BE1A-2901FD3C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721A40-E38A-F407-11C7-CE123D131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C4BB2-C766-C363-C6CD-3C3EF41D6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19FA6-3F6C-4C18-B912-12B828E1FA8F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2CC9FE-B602-42AB-38AC-7485249AF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FE07FB-CC49-5CF3-A5F5-06B51264B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ADFF0-6589-4416-9E8A-079D534F59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58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10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4CCCFCB6-E102-EE15-F8D9-DE854218ED8D}"/>
              </a:ext>
            </a:extLst>
          </p:cNvPr>
          <p:cNvSpPr/>
          <p:nvPr/>
        </p:nvSpPr>
        <p:spPr>
          <a:xfrm>
            <a:off x="2194560" y="2734887"/>
            <a:ext cx="9202189" cy="1459893"/>
          </a:xfrm>
          <a:prstGeom prst="wedgeRoundRectCallout">
            <a:avLst>
              <a:gd name="adj1" fmla="val -39171"/>
              <a:gd name="adj2" fmla="val 8299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64D131F7-DA54-FA6A-6175-18F1FEF89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788" y="195902"/>
            <a:ext cx="7811590" cy="246731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62262E-9453-1E80-D965-2BB23151DCD8}"/>
              </a:ext>
            </a:extLst>
          </p:cNvPr>
          <p:cNvSpPr txBox="1"/>
          <p:nvPr/>
        </p:nvSpPr>
        <p:spPr>
          <a:xfrm>
            <a:off x="2360815" y="2997310"/>
            <a:ext cx="86773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ここに各ファイルを入れてるでござるよ。</a:t>
            </a:r>
            <a:endParaRPr kumimoji="1" lang="en-US" altLang="ja-JP" dirty="0"/>
          </a:p>
          <a:p>
            <a:r>
              <a:rPr lang="en-US" altLang="ja-JP" dirty="0"/>
              <a:t>E1-Example</a:t>
            </a:r>
          </a:p>
          <a:p>
            <a:r>
              <a:rPr kumimoji="1" lang="ja-JP" altLang="en-US" dirty="0"/>
              <a:t>という指定があれば、</a:t>
            </a:r>
            <a:r>
              <a:rPr kumimoji="1" lang="en-US" altLang="ja-JP" dirty="0"/>
              <a:t>E</a:t>
            </a:r>
            <a:r>
              <a:rPr kumimoji="1" lang="ja-JP" altLang="en-US" dirty="0"/>
              <a:t>のファイルにある</a:t>
            </a:r>
            <a:r>
              <a:rPr kumimoji="1" lang="en-US" altLang="ja-JP" dirty="0"/>
              <a:t>E1</a:t>
            </a:r>
            <a:r>
              <a:rPr kumimoji="1" lang="ja-JP" altLang="en-US" dirty="0"/>
              <a:t>という画像を使ってほしいでござる</a:t>
            </a:r>
          </a:p>
        </p:txBody>
      </p:sp>
      <p:pic>
        <p:nvPicPr>
          <p:cNvPr id="10" name="図 9" descr="人, 男, 暗い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ED6DB52-3E15-6F5E-0AC5-B2466EE7B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334" y="4296293"/>
            <a:ext cx="1896687" cy="189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80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546847F0-FAF0-C2DF-249C-DACA5DB81B15}"/>
              </a:ext>
            </a:extLst>
          </p:cNvPr>
          <p:cNvSpPr/>
          <p:nvPr/>
        </p:nvSpPr>
        <p:spPr>
          <a:xfrm>
            <a:off x="3253762" y="3335595"/>
            <a:ext cx="709691" cy="712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E8A918BC-45F5-3645-76E5-D01405C66481}"/>
              </a:ext>
            </a:extLst>
          </p:cNvPr>
          <p:cNvSpPr/>
          <p:nvPr/>
        </p:nvSpPr>
        <p:spPr>
          <a:xfrm>
            <a:off x="9651308" y="694224"/>
            <a:ext cx="709691" cy="7125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80CCABA-E294-E127-B01E-B5C807F5DDA8}"/>
              </a:ext>
            </a:extLst>
          </p:cNvPr>
          <p:cNvSpPr/>
          <p:nvPr/>
        </p:nvSpPr>
        <p:spPr>
          <a:xfrm>
            <a:off x="2604304" y="225706"/>
            <a:ext cx="8021253" cy="428658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B60A1C2-4498-B14D-C0FA-49FB516FD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172" y="225706"/>
            <a:ext cx="7450665" cy="4191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3DA3E67-D316-F14E-D230-C1BA379B4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172" y="225706"/>
            <a:ext cx="7450665" cy="4191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6F7B118-3200-D475-D841-D2FB4356A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638" y="175058"/>
            <a:ext cx="7450665" cy="4191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E83C4A2-5D81-2F2B-D90A-BB32F64FB334}"/>
              </a:ext>
            </a:extLst>
          </p:cNvPr>
          <p:cNvSpPr txBox="1"/>
          <p:nvPr/>
        </p:nvSpPr>
        <p:spPr>
          <a:xfrm>
            <a:off x="4511029" y="310240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M1-LifeTable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AA02478-C2B3-8376-6C13-932AEFE1AEDA}"/>
              </a:ext>
            </a:extLst>
          </p:cNvPr>
          <p:cNvCxnSpPr>
            <a:cxnSpLocks/>
          </p:cNvCxnSpPr>
          <p:nvPr/>
        </p:nvCxnSpPr>
        <p:spPr>
          <a:xfrm flipV="1">
            <a:off x="4768412" y="3562187"/>
            <a:ext cx="0" cy="6076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A9D55BF-E556-D9A1-0B0E-B49751F2078D}"/>
              </a:ext>
            </a:extLst>
          </p:cNvPr>
          <p:cNvSpPr txBox="1"/>
          <p:nvPr/>
        </p:nvSpPr>
        <p:spPr>
          <a:xfrm>
            <a:off x="8533872" y="151339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M1-LifeTable</a:t>
            </a:r>
            <a:b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M1’-ManaBar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E4A19D9-A53F-0455-E601-A5656802890E}"/>
              </a:ext>
            </a:extLst>
          </p:cNvPr>
          <p:cNvCxnSpPr>
            <a:cxnSpLocks/>
          </p:cNvCxnSpPr>
          <p:nvPr/>
        </p:nvCxnSpPr>
        <p:spPr>
          <a:xfrm flipV="1">
            <a:off x="9115642" y="694224"/>
            <a:ext cx="0" cy="879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A536ED1-5A18-E7F9-2C6E-1765682895B0}"/>
              </a:ext>
            </a:extLst>
          </p:cNvPr>
          <p:cNvSpPr txBox="1"/>
          <p:nvPr/>
        </p:nvSpPr>
        <p:spPr>
          <a:xfrm>
            <a:off x="3694736" y="92754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M2-EnemyTurn</a:t>
            </a:r>
          </a:p>
          <a:p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D2B9DA9-09F1-BF17-50F5-A461B5DDF333}"/>
              </a:ext>
            </a:extLst>
          </p:cNvPr>
          <p:cNvCxnSpPr>
            <a:cxnSpLocks/>
          </p:cNvCxnSpPr>
          <p:nvPr/>
        </p:nvCxnSpPr>
        <p:spPr>
          <a:xfrm>
            <a:off x="7969773" y="3576524"/>
            <a:ext cx="0" cy="5689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0350A59-A71A-B08E-C06D-1E23406E8B77}"/>
              </a:ext>
            </a:extLst>
          </p:cNvPr>
          <p:cNvSpPr txBox="1"/>
          <p:nvPr/>
        </p:nvSpPr>
        <p:spPr>
          <a:xfrm>
            <a:off x="7749042" y="3170406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M3-AllyTurn</a:t>
            </a:r>
          </a:p>
          <a:p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169C76F-C9F6-418C-546E-BF22508548FB}"/>
              </a:ext>
            </a:extLst>
          </p:cNvPr>
          <p:cNvCxnSpPr>
            <a:cxnSpLocks/>
          </p:cNvCxnSpPr>
          <p:nvPr/>
        </p:nvCxnSpPr>
        <p:spPr>
          <a:xfrm>
            <a:off x="4004936" y="633714"/>
            <a:ext cx="0" cy="3505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E61B0F6-15FB-3528-2333-638058EB7689}"/>
              </a:ext>
            </a:extLst>
          </p:cNvPr>
          <p:cNvSpPr txBox="1"/>
          <p:nvPr/>
        </p:nvSpPr>
        <p:spPr>
          <a:xfrm>
            <a:off x="120520" y="0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b="1" dirty="0"/>
              <a:t>基本</a:t>
            </a:r>
            <a:r>
              <a:rPr lang="en-US" altLang="ja-JP" sz="3600" b="1" dirty="0"/>
              <a:t>UI</a:t>
            </a:r>
            <a:endParaRPr kumimoji="1" lang="ja-JP" altLang="en-US" sz="3600" b="1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A802F02-6839-D847-73E7-174F42A62339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1" name="図 40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9B8F0711-4CC1-8CA7-A6CC-57BF6B3E72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478" y="4049790"/>
            <a:ext cx="255148" cy="143521"/>
          </a:xfrm>
          <a:prstGeom prst="rect">
            <a:avLst/>
          </a:prstGeom>
        </p:spPr>
      </p:pic>
      <p:pic>
        <p:nvPicPr>
          <p:cNvPr id="42" name="図 41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79F8049D-D71B-9D37-5625-D61A53217E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430" y="4049790"/>
            <a:ext cx="255148" cy="143521"/>
          </a:xfrm>
          <a:prstGeom prst="rect">
            <a:avLst/>
          </a:prstGeom>
        </p:spPr>
      </p:pic>
      <p:pic>
        <p:nvPicPr>
          <p:cNvPr id="43" name="図 42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AC465B8E-C4E1-0440-77B0-9A91499F68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670" y="4049790"/>
            <a:ext cx="255148" cy="143521"/>
          </a:xfrm>
          <a:prstGeom prst="rect">
            <a:avLst/>
          </a:prstGeom>
        </p:spPr>
      </p:pic>
      <p:pic>
        <p:nvPicPr>
          <p:cNvPr id="44" name="図 43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24FB53DB-FFAD-2456-C836-92E4D39DA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910" y="4049790"/>
            <a:ext cx="255148" cy="143521"/>
          </a:xfrm>
          <a:prstGeom prst="rect">
            <a:avLst/>
          </a:prstGeom>
        </p:spPr>
      </p:pic>
      <p:pic>
        <p:nvPicPr>
          <p:cNvPr id="45" name="図 44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C9EEC2D8-87C2-5E46-C3DF-70BC6D705F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150" y="4049790"/>
            <a:ext cx="255148" cy="143521"/>
          </a:xfrm>
          <a:prstGeom prst="rect">
            <a:avLst/>
          </a:prstGeom>
        </p:spPr>
      </p:pic>
      <p:pic>
        <p:nvPicPr>
          <p:cNvPr id="46" name="図 45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566C166B-3EBC-6832-9F8C-A8458F0350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390" y="4049790"/>
            <a:ext cx="255148" cy="143521"/>
          </a:xfrm>
          <a:prstGeom prst="rect">
            <a:avLst/>
          </a:prstGeom>
        </p:spPr>
      </p:pic>
      <p:pic>
        <p:nvPicPr>
          <p:cNvPr id="47" name="図 46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1219A323-A6B2-099F-1568-FCFB985977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630" y="4049790"/>
            <a:ext cx="255148" cy="143521"/>
          </a:xfrm>
          <a:prstGeom prst="rect">
            <a:avLst/>
          </a:prstGeom>
        </p:spPr>
      </p:pic>
      <p:pic>
        <p:nvPicPr>
          <p:cNvPr id="48" name="図 47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857EEB45-4E6F-2CDD-16B8-52A34B83B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870" y="4049790"/>
            <a:ext cx="255148" cy="143521"/>
          </a:xfrm>
          <a:prstGeom prst="rect">
            <a:avLst/>
          </a:prstGeom>
        </p:spPr>
      </p:pic>
      <p:pic>
        <p:nvPicPr>
          <p:cNvPr id="49" name="図 48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1DC00200-D754-DD22-6360-C511976E5B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10" y="4049790"/>
            <a:ext cx="255148" cy="143521"/>
          </a:xfrm>
          <a:prstGeom prst="rect">
            <a:avLst/>
          </a:prstGeom>
        </p:spPr>
      </p:pic>
      <p:pic>
        <p:nvPicPr>
          <p:cNvPr id="50" name="図 49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C195D7F6-2539-93AC-01A5-A10210BBB6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350" y="4049790"/>
            <a:ext cx="255148" cy="143521"/>
          </a:xfrm>
          <a:prstGeom prst="rect">
            <a:avLst/>
          </a:prstGeom>
        </p:spPr>
      </p:pic>
      <p:pic>
        <p:nvPicPr>
          <p:cNvPr id="51" name="図 50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4916BEEE-E116-EFC0-26F0-126684E12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67" y="1901723"/>
            <a:ext cx="255148" cy="143521"/>
          </a:xfrm>
          <a:prstGeom prst="rect">
            <a:avLst/>
          </a:prstGeom>
        </p:spPr>
      </p:pic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8ECAC8C-F733-3C9C-E8B1-ECF31DA9514E}"/>
              </a:ext>
            </a:extLst>
          </p:cNvPr>
          <p:cNvSpPr txBox="1"/>
          <p:nvPr/>
        </p:nvSpPr>
        <p:spPr>
          <a:xfrm>
            <a:off x="421514" y="241746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M4-Life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9AECFEB-7881-BE8A-FC0B-600249BF0836}"/>
              </a:ext>
            </a:extLst>
          </p:cNvPr>
          <p:cNvCxnSpPr>
            <a:cxnSpLocks/>
          </p:cNvCxnSpPr>
          <p:nvPr/>
        </p:nvCxnSpPr>
        <p:spPr>
          <a:xfrm flipV="1">
            <a:off x="594305" y="2159721"/>
            <a:ext cx="0" cy="2844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F85F83C-9056-68F9-A41F-96FCE1D0077D}"/>
              </a:ext>
            </a:extLst>
          </p:cNvPr>
          <p:cNvCxnSpPr>
            <a:cxnSpLocks/>
          </p:cNvCxnSpPr>
          <p:nvPr/>
        </p:nvCxnSpPr>
        <p:spPr>
          <a:xfrm>
            <a:off x="1264266" y="2744046"/>
            <a:ext cx="1850838" cy="1596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5" name="図 64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1C978BD8-1ACD-5FD2-5123-0063ECFD0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922" y="502810"/>
            <a:ext cx="255148" cy="143521"/>
          </a:xfrm>
          <a:prstGeom prst="rect">
            <a:avLst/>
          </a:prstGeom>
        </p:spPr>
      </p:pic>
      <p:pic>
        <p:nvPicPr>
          <p:cNvPr id="66" name="図 65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B36898BA-A4B5-B218-42C5-8A02EA1694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162" y="502810"/>
            <a:ext cx="255148" cy="143521"/>
          </a:xfrm>
          <a:prstGeom prst="rect">
            <a:avLst/>
          </a:prstGeom>
        </p:spPr>
      </p:pic>
      <p:pic>
        <p:nvPicPr>
          <p:cNvPr id="67" name="図 66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BDF79F17-A0F6-35EE-2FCC-3DEAC6FE1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402" y="502810"/>
            <a:ext cx="255148" cy="143521"/>
          </a:xfrm>
          <a:prstGeom prst="rect">
            <a:avLst/>
          </a:prstGeom>
        </p:spPr>
      </p:pic>
      <p:pic>
        <p:nvPicPr>
          <p:cNvPr id="68" name="図 67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74C34A85-E858-D1D1-82E2-8584AF234B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642" y="502810"/>
            <a:ext cx="255148" cy="143521"/>
          </a:xfrm>
          <a:prstGeom prst="rect">
            <a:avLst/>
          </a:prstGeom>
        </p:spPr>
      </p:pic>
      <p:pic>
        <p:nvPicPr>
          <p:cNvPr id="69" name="図 68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1C38CCD0-55D1-FC0E-197F-EF967058C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882" y="502810"/>
            <a:ext cx="255148" cy="143521"/>
          </a:xfrm>
          <a:prstGeom prst="rect">
            <a:avLst/>
          </a:prstGeom>
        </p:spPr>
      </p:pic>
      <p:pic>
        <p:nvPicPr>
          <p:cNvPr id="70" name="図 69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2AE3ABE5-0432-F2BE-CC8E-5934E1EE6A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786" y="502810"/>
            <a:ext cx="255148" cy="143521"/>
          </a:xfrm>
          <a:prstGeom prst="rect">
            <a:avLst/>
          </a:prstGeom>
        </p:spPr>
      </p:pic>
      <p:pic>
        <p:nvPicPr>
          <p:cNvPr id="71" name="図 70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230C5D1D-B62C-B211-CCEA-3AC4045221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026" y="502810"/>
            <a:ext cx="255148" cy="143521"/>
          </a:xfrm>
          <a:prstGeom prst="rect">
            <a:avLst/>
          </a:prstGeom>
        </p:spPr>
      </p:pic>
      <p:pic>
        <p:nvPicPr>
          <p:cNvPr id="72" name="図 71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324858B5-8836-1249-75DC-382CB1961A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266" y="502810"/>
            <a:ext cx="255148" cy="143521"/>
          </a:xfrm>
          <a:prstGeom prst="rect">
            <a:avLst/>
          </a:prstGeom>
        </p:spPr>
      </p:pic>
      <p:pic>
        <p:nvPicPr>
          <p:cNvPr id="73" name="図 72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B43973F8-4DF6-DCD9-A11F-62DE758B72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506" y="502810"/>
            <a:ext cx="255148" cy="143521"/>
          </a:xfrm>
          <a:prstGeom prst="rect">
            <a:avLst/>
          </a:prstGeom>
        </p:spPr>
      </p:pic>
      <p:pic>
        <p:nvPicPr>
          <p:cNvPr id="74" name="図 73" descr="図形, 四角形&#10;&#10;AI 生成コンテンツは誤りを含む可能性があります。">
            <a:extLst>
              <a:ext uri="{FF2B5EF4-FFF2-40B4-BE49-F238E27FC236}">
                <a16:creationId xmlns:a16="http://schemas.microsoft.com/office/drawing/2014/main" id="{073D4E01-DCEC-F25C-A843-76D42ECC84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46" y="502810"/>
            <a:ext cx="255148" cy="143521"/>
          </a:xfrm>
          <a:prstGeom prst="rect">
            <a:avLst/>
          </a:prstGeom>
        </p:spPr>
      </p:pic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7A01ACBE-7424-3D47-8141-C4ADDFA41343}"/>
              </a:ext>
            </a:extLst>
          </p:cNvPr>
          <p:cNvCxnSpPr>
            <a:cxnSpLocks/>
            <a:endCxn id="70" idx="2"/>
          </p:cNvCxnSpPr>
          <p:nvPr/>
        </p:nvCxnSpPr>
        <p:spPr>
          <a:xfrm flipV="1">
            <a:off x="1280830" y="646331"/>
            <a:ext cx="6348530" cy="1954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1695D0F-6B99-8353-864F-EEE27AD4CC91}"/>
              </a:ext>
            </a:extLst>
          </p:cNvPr>
          <p:cNvSpPr txBox="1"/>
          <p:nvPr/>
        </p:nvSpPr>
        <p:spPr>
          <a:xfrm>
            <a:off x="282853" y="5101128"/>
            <a:ext cx="105578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M1-LifeTable,M1’-ManaBar </a:t>
            </a:r>
            <a:r>
              <a:rPr kumimoji="1"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: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常時表示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M2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ー</a:t>
            </a:r>
            <a:r>
              <a:rPr lang="en-US" altLang="ja-JP" b="1" dirty="0" err="1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EnemyTurn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：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相手のターンで表示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,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M3-AllyTurn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：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自分のターンで表示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M4-Life: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ライフ数分だけ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の上に配置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M5-Manas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所持マナを配置　　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M6-Avater: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キャラクターアバター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　　　　　　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常に描画し続けます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82" name="図 81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E4A26B2-2D4B-D6C2-8B83-588EF86320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193" y="4166683"/>
            <a:ext cx="183830" cy="183830"/>
          </a:xfrm>
          <a:prstGeom prst="rect">
            <a:avLst/>
          </a:prstGeom>
        </p:spPr>
      </p:pic>
      <p:pic>
        <p:nvPicPr>
          <p:cNvPr id="83" name="図 82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DF19EE9-BD2D-B5B3-7EFA-98358FC1E9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696" y="4166683"/>
            <a:ext cx="183830" cy="183830"/>
          </a:xfrm>
          <a:prstGeom prst="rect">
            <a:avLst/>
          </a:prstGeom>
        </p:spPr>
      </p:pic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96A48B38-906B-4207-9FD5-A2B4728A3BB5}"/>
              </a:ext>
            </a:extLst>
          </p:cNvPr>
          <p:cNvSpPr txBox="1"/>
          <p:nvPr/>
        </p:nvSpPr>
        <p:spPr>
          <a:xfrm>
            <a:off x="3659003" y="44934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M5-manas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43551C9A-10D4-4782-CF07-26C16E77C5CD}"/>
              </a:ext>
            </a:extLst>
          </p:cNvPr>
          <p:cNvCxnSpPr>
            <a:cxnSpLocks/>
          </p:cNvCxnSpPr>
          <p:nvPr/>
        </p:nvCxnSpPr>
        <p:spPr>
          <a:xfrm flipV="1">
            <a:off x="4414023" y="4381602"/>
            <a:ext cx="0" cy="261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0EDDED56-CB43-9F4A-D35E-DA22171FE35E}"/>
              </a:ext>
            </a:extLst>
          </p:cNvPr>
          <p:cNvSpPr txBox="1"/>
          <p:nvPr/>
        </p:nvSpPr>
        <p:spPr>
          <a:xfrm>
            <a:off x="4532296" y="278705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M1’-ManaBar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91" name="図 90" descr="人, 男, 暗い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AFDC74D-F92E-7775-0769-C8597F9465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762" y="3335595"/>
            <a:ext cx="712546" cy="712546"/>
          </a:xfrm>
          <a:prstGeom prst="rect">
            <a:avLst/>
          </a:prstGeom>
        </p:spPr>
      </p:pic>
      <p:pic>
        <p:nvPicPr>
          <p:cNvPr id="93" name="図 92" descr="人, 男, 座る, 衣類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3978824-129F-4FAE-10A8-889B003378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66273" y="694224"/>
            <a:ext cx="679763" cy="712189"/>
          </a:xfrm>
          <a:prstGeom prst="rect">
            <a:avLst/>
          </a:prstGeom>
        </p:spPr>
      </p:pic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A2A02BE7-5C50-2B1E-8097-D51D4B80AD00}"/>
              </a:ext>
            </a:extLst>
          </p:cNvPr>
          <p:cNvSpPr txBox="1"/>
          <p:nvPr/>
        </p:nvSpPr>
        <p:spPr>
          <a:xfrm>
            <a:off x="2545392" y="292929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M6-Avater(BLU)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D1F53CD3-3F44-2B80-293A-8126297A643F}"/>
              </a:ext>
            </a:extLst>
          </p:cNvPr>
          <p:cNvSpPr txBox="1"/>
          <p:nvPr/>
        </p:nvSpPr>
        <p:spPr>
          <a:xfrm>
            <a:off x="10359550" y="90738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M6-Avater(RED)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4030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3F49-5FD9-B541-CD8B-741CD932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726B834-44CA-860A-C085-B7EB53FA01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7979D8-1337-DE69-2A79-832FC0F0D798}"/>
              </a:ext>
            </a:extLst>
          </p:cNvPr>
          <p:cNvSpPr txBox="1"/>
          <p:nvPr/>
        </p:nvSpPr>
        <p:spPr>
          <a:xfrm>
            <a:off x="120520" y="0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b="1" dirty="0"/>
              <a:t>マナ</a:t>
            </a:r>
            <a:endParaRPr lang="en-US" altLang="ja-JP" sz="3600" b="1" dirty="0"/>
          </a:p>
          <a:p>
            <a:r>
              <a:rPr lang="ja-JP" altLang="en-US" sz="3600" b="1" dirty="0"/>
              <a:t>チャージ</a:t>
            </a:r>
            <a:endParaRPr kumimoji="1" lang="ja-JP" altLang="en-US" sz="3600" b="1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E39EB8B-50EF-9514-8692-AAEE7BC8D7D4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5F0E0B9-C60A-0C10-34AC-E593DDD0AF99}"/>
              </a:ext>
            </a:extLst>
          </p:cNvPr>
          <p:cNvSpPr txBox="1"/>
          <p:nvPr/>
        </p:nvSpPr>
        <p:spPr>
          <a:xfrm>
            <a:off x="391034" y="5256742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前ページの基本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UI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は表示させ続けますが、省略します</a:t>
            </a:r>
            <a:endParaRPr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C1-Manacharge 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　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 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マナを配置します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T1-TextWindow 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メッセージを表示させます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5-Manas 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　押したマナをチャージする</a:t>
            </a:r>
            <a:endParaRPr kumimoji="1" lang="ja-JP" altLang="en-US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3" name="図 2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3B12A13-3CC3-2B83-DA3F-FFC372D03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236" y="795897"/>
            <a:ext cx="6055243" cy="3406075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D58C93-D650-D291-CDE9-E8D20640B490}"/>
              </a:ext>
            </a:extLst>
          </p:cNvPr>
          <p:cNvSpPr txBox="1"/>
          <p:nvPr/>
        </p:nvSpPr>
        <p:spPr>
          <a:xfrm>
            <a:off x="4668394" y="36874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C1-ManaCharage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48BBA82-25EC-1524-C50D-FD46E99FDE19}"/>
              </a:ext>
            </a:extLst>
          </p:cNvPr>
          <p:cNvCxnSpPr>
            <a:cxnSpLocks/>
          </p:cNvCxnSpPr>
          <p:nvPr/>
        </p:nvCxnSpPr>
        <p:spPr>
          <a:xfrm flipV="1">
            <a:off x="4841185" y="3429721"/>
            <a:ext cx="0" cy="2844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図 21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1AA46C87-A2FC-148B-28FF-BCADC5C43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252" y="1523408"/>
            <a:ext cx="4701209" cy="125233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CE43850-D311-8712-3D18-5DD3B146E46A}"/>
              </a:ext>
            </a:extLst>
          </p:cNvPr>
          <p:cNvSpPr txBox="1"/>
          <p:nvPr/>
        </p:nvSpPr>
        <p:spPr>
          <a:xfrm>
            <a:off x="5112918" y="176932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追加するマナを選びたまえ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6C3FA42-F556-13CD-ED2D-CBF96AD895F3}"/>
              </a:ext>
            </a:extLst>
          </p:cNvPr>
          <p:cNvSpPr txBox="1"/>
          <p:nvPr/>
        </p:nvSpPr>
        <p:spPr>
          <a:xfrm>
            <a:off x="6073747" y="61167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C1-ManaCharage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0DCFD1A-DEC3-1228-858D-7FF5D2F3E5C2}"/>
              </a:ext>
            </a:extLst>
          </p:cNvPr>
          <p:cNvCxnSpPr>
            <a:cxnSpLocks/>
          </p:cNvCxnSpPr>
          <p:nvPr/>
        </p:nvCxnSpPr>
        <p:spPr>
          <a:xfrm flipV="1">
            <a:off x="6423544" y="10664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4B6DB499-89F1-FD72-4C69-80883DAB1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328" y="2347675"/>
            <a:ext cx="892721" cy="892721"/>
          </a:xfrm>
          <a:prstGeom prst="rect">
            <a:avLst/>
          </a:prstGeom>
        </p:spPr>
      </p:pic>
      <p:pic>
        <p:nvPicPr>
          <p:cNvPr id="31" name="図 30" descr="食品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95C69B9-97BA-B879-B384-A61EAF5357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466" y="2375361"/>
            <a:ext cx="892721" cy="892721"/>
          </a:xfrm>
          <a:prstGeom prst="rect">
            <a:avLst/>
          </a:prstGeom>
        </p:spPr>
      </p:pic>
      <p:pic>
        <p:nvPicPr>
          <p:cNvPr id="33" name="図 32" descr="図形, アイコン, 円&#10;&#10;AI 生成コンテンツは誤りを含む可能性があります。">
            <a:extLst>
              <a:ext uri="{FF2B5EF4-FFF2-40B4-BE49-F238E27FC236}">
                <a16:creationId xmlns:a16="http://schemas.microsoft.com/office/drawing/2014/main" id="{EC5A059D-C7E5-4E9C-E0A2-700EFBBF4D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050" y="2375361"/>
            <a:ext cx="892721" cy="892721"/>
          </a:xfrm>
          <a:prstGeom prst="rect">
            <a:avLst/>
          </a:prstGeom>
        </p:spPr>
      </p:pic>
      <p:pic>
        <p:nvPicPr>
          <p:cNvPr id="35" name="図 34" descr="男性の顔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BC0C291B-13D4-B08A-AC1A-3FC4CEE469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397" y="2357331"/>
            <a:ext cx="892721" cy="892721"/>
          </a:xfrm>
          <a:prstGeom prst="rect">
            <a:avLst/>
          </a:prstGeom>
        </p:spPr>
      </p:pic>
      <p:pic>
        <p:nvPicPr>
          <p:cNvPr id="37" name="図 36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C360FB6-6752-D0CE-B091-1104B611B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742" y="2384573"/>
            <a:ext cx="838238" cy="838238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4D4314E-8E5E-E58C-A5A9-69C3C66CA240}"/>
              </a:ext>
            </a:extLst>
          </p:cNvPr>
          <p:cNvSpPr txBox="1"/>
          <p:nvPr/>
        </p:nvSpPr>
        <p:spPr>
          <a:xfrm>
            <a:off x="2751208" y="212317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M5-Manas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192B136-E66B-C491-0BA2-92E819CE61D3}"/>
              </a:ext>
            </a:extLst>
          </p:cNvPr>
          <p:cNvCxnSpPr>
            <a:cxnSpLocks/>
          </p:cNvCxnSpPr>
          <p:nvPr/>
        </p:nvCxnSpPr>
        <p:spPr>
          <a:xfrm flipH="1" flipV="1">
            <a:off x="3627236" y="2629768"/>
            <a:ext cx="645451" cy="2335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DC4F1B09-9011-7AAF-63A0-D20748144BF8}"/>
              </a:ext>
            </a:extLst>
          </p:cNvPr>
          <p:cNvSpPr txBox="1"/>
          <p:nvPr/>
        </p:nvSpPr>
        <p:spPr>
          <a:xfrm>
            <a:off x="368557" y="6409759"/>
            <a:ext cx="867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わっしーへ　背景に暗めの画像を挟んで見やすくしてください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BA22937-1844-FC66-37BA-31E7D768D9DD}"/>
              </a:ext>
            </a:extLst>
          </p:cNvPr>
          <p:cNvSpPr/>
          <p:nvPr/>
        </p:nvSpPr>
        <p:spPr>
          <a:xfrm>
            <a:off x="2613510" y="225710"/>
            <a:ext cx="8021251" cy="4286581"/>
          </a:xfrm>
          <a:prstGeom prst="rect">
            <a:avLst/>
          </a:prstGeom>
          <a:solidFill>
            <a:schemeClr val="dk1">
              <a:alpha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354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C840-DA9D-8343-10FD-E45DFAEE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7D95DC-C41A-0BBC-BBB9-DCD93B256A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7EBB81B-7C9E-36AC-5B77-09748C752974}"/>
              </a:ext>
            </a:extLst>
          </p:cNvPr>
          <p:cNvSpPr txBox="1"/>
          <p:nvPr/>
        </p:nvSpPr>
        <p:spPr>
          <a:xfrm>
            <a:off x="120520" y="0"/>
            <a:ext cx="24929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カード</a:t>
            </a:r>
            <a:endParaRPr kumimoji="1" lang="en-US" altLang="ja-JP" sz="3600" b="1" dirty="0"/>
          </a:p>
          <a:p>
            <a:r>
              <a:rPr lang="ja-JP" altLang="en-US" sz="3600" b="1" dirty="0"/>
              <a:t>召喚画面１</a:t>
            </a:r>
            <a:endParaRPr kumimoji="1" lang="ja-JP" altLang="en-US" sz="3600" b="1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5BDE9EE-09E8-3592-4B28-3B1F9E5B1F0A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1C81411C-D7B3-9809-E3E2-D371415AA971}"/>
              </a:ext>
            </a:extLst>
          </p:cNvPr>
          <p:cNvSpPr txBox="1"/>
          <p:nvPr/>
        </p:nvSpPr>
        <p:spPr>
          <a:xfrm>
            <a:off x="391034" y="5256742"/>
            <a:ext cx="116108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(S1-Blue,S2-Red):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カーソルの重なったカードの情報を</a:t>
            </a:r>
            <a:r>
              <a:rPr kumimoji="1"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Unity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のテキストで表示。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相手のカードなら赤、自分のカードなら青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赤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);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クリックすると召喚フェーズを終了して戦闘を開始するボタン。テキストは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Unity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で表示。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E4-CardSelecter</a:t>
            </a:r>
            <a:r>
              <a:rPr kumimoji="1"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: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 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現在重なっているカードに表示、味方なら緑、敵なら赤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(Unity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側で管理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</a:t>
            </a:r>
            <a:endParaRPr kumimoji="1" lang="ja-JP" altLang="en-US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479A464-06E7-557C-4090-F52923FB37B6}"/>
              </a:ext>
            </a:extLst>
          </p:cNvPr>
          <p:cNvSpPr txBox="1"/>
          <p:nvPr/>
        </p:nvSpPr>
        <p:spPr>
          <a:xfrm>
            <a:off x="6575223" y="877163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S1-Blue</a:t>
            </a:r>
            <a:b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S2-Red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AC476EF-BCE6-4669-CE55-C40940835763}"/>
              </a:ext>
            </a:extLst>
          </p:cNvPr>
          <p:cNvCxnSpPr>
            <a:cxnSpLocks/>
          </p:cNvCxnSpPr>
          <p:nvPr/>
        </p:nvCxnSpPr>
        <p:spPr>
          <a:xfrm flipH="1">
            <a:off x="4591878" y="1200329"/>
            <a:ext cx="19926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93066E1-850B-735A-E997-73AFB44917DA}"/>
              </a:ext>
            </a:extLst>
          </p:cNvPr>
          <p:cNvSpPr txBox="1"/>
          <p:nvPr/>
        </p:nvSpPr>
        <p:spPr>
          <a:xfrm>
            <a:off x="7785113" y="3276595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手札もしくは場のカード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D987619-0E8C-9F21-3F30-9DF63EA573B6}"/>
              </a:ext>
            </a:extLst>
          </p:cNvPr>
          <p:cNvCxnSpPr>
            <a:cxnSpLocks/>
          </p:cNvCxnSpPr>
          <p:nvPr/>
        </p:nvCxnSpPr>
        <p:spPr>
          <a:xfrm flipV="1">
            <a:off x="14756340" y="14220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179D48D-70B8-8857-A774-735C6FC491F2}"/>
              </a:ext>
            </a:extLst>
          </p:cNvPr>
          <p:cNvSpPr txBox="1"/>
          <p:nvPr/>
        </p:nvSpPr>
        <p:spPr>
          <a:xfrm>
            <a:off x="5243431" y="285775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赤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43F000AE-FB50-5664-7515-C524EA4EFFAE}"/>
              </a:ext>
            </a:extLst>
          </p:cNvPr>
          <p:cNvCxnSpPr>
            <a:cxnSpLocks/>
          </p:cNvCxnSpPr>
          <p:nvPr/>
        </p:nvCxnSpPr>
        <p:spPr>
          <a:xfrm flipH="1" flipV="1">
            <a:off x="4591878" y="3102149"/>
            <a:ext cx="629578" cy="18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1DAA145E-F289-E854-0CF0-3419C0780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462" y="3276597"/>
            <a:ext cx="682055" cy="1083263"/>
          </a:xfrm>
          <a:prstGeom prst="rect">
            <a:avLst/>
          </a:prstGeom>
        </p:spPr>
      </p:pic>
      <p:pic>
        <p:nvPicPr>
          <p:cNvPr id="10" name="図 9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9BDEC874-F898-34B0-AD02-FA34A6737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495" y="502318"/>
            <a:ext cx="3805284" cy="2140472"/>
          </a:xfrm>
          <a:prstGeom prst="rect">
            <a:avLst/>
          </a:prstGeom>
        </p:spPr>
      </p:pic>
      <p:pic>
        <p:nvPicPr>
          <p:cNvPr id="12" name="図 11" descr="屋外, 作る, 座る, 写真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B227FF4-C50C-3853-2E95-7FBE9FF64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0" t="6150" r="33241" b="35525"/>
          <a:stretch>
            <a:fillRect/>
          </a:stretch>
        </p:blipFill>
        <p:spPr>
          <a:xfrm>
            <a:off x="2866792" y="778292"/>
            <a:ext cx="532391" cy="645101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2B243FE-EA7D-BC9C-E4C4-ADC00774871A}"/>
              </a:ext>
            </a:extLst>
          </p:cNvPr>
          <p:cNvSpPr txBox="1"/>
          <p:nvPr/>
        </p:nvSpPr>
        <p:spPr>
          <a:xfrm>
            <a:off x="3443069" y="737033"/>
            <a:ext cx="74892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/>
                </a:solidFill>
              </a:rPr>
              <a:t>カード名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lang="en-US" altLang="ja-JP" sz="1100" dirty="0">
                <a:solidFill>
                  <a:schemeClr val="bg1"/>
                </a:solidFill>
              </a:rPr>
              <a:t>AP</a:t>
            </a:r>
          </a:p>
          <a:p>
            <a:r>
              <a:rPr kumimoji="1" lang="en-US" altLang="ja-JP" sz="1100" dirty="0">
                <a:solidFill>
                  <a:schemeClr val="bg1"/>
                </a:solidFill>
              </a:rPr>
              <a:t>BP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2E36E67-E049-0954-E808-1D1F9A2EC1E1}"/>
              </a:ext>
            </a:extLst>
          </p:cNvPr>
          <p:cNvSpPr txBox="1"/>
          <p:nvPr/>
        </p:nvSpPr>
        <p:spPr>
          <a:xfrm>
            <a:off x="2729687" y="1447812"/>
            <a:ext cx="8899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/>
                </a:solidFill>
              </a:rPr>
              <a:t>カード効果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kumimoji="1" lang="en-US" altLang="ja-JP" sz="1100" dirty="0">
                <a:solidFill>
                  <a:schemeClr val="bg1"/>
                </a:solidFill>
              </a:rPr>
              <a:t>1-</a:t>
            </a:r>
            <a:r>
              <a:rPr kumimoji="1" lang="ja-JP" altLang="en-US" sz="1100" dirty="0">
                <a:solidFill>
                  <a:schemeClr val="bg1"/>
                </a:solidFill>
              </a:rPr>
              <a:t>説明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2-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3-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4-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5-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</p:txBody>
      </p:sp>
      <p:pic>
        <p:nvPicPr>
          <p:cNvPr id="18" name="図 17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86051627-EFC0-8876-839A-07A5019DF1C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87" y="2887032"/>
            <a:ext cx="1720935" cy="43023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F03DBD0-DD62-1AD9-42FB-AF66D2A979DF}"/>
              </a:ext>
            </a:extLst>
          </p:cNvPr>
          <p:cNvSpPr txBox="1"/>
          <p:nvPr/>
        </p:nvSpPr>
        <p:spPr>
          <a:xfrm>
            <a:off x="3017852" y="28870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戦闘開始</a:t>
            </a:r>
          </a:p>
        </p:txBody>
      </p:sp>
      <p:pic>
        <p:nvPicPr>
          <p:cNvPr id="28" name="図 2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5EFB1CDA-A0F8-7240-F864-C973C8821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07" y="3430193"/>
            <a:ext cx="776069" cy="776069"/>
          </a:xfrm>
          <a:prstGeom prst="rect">
            <a:avLst/>
          </a:prstGeom>
        </p:spPr>
      </p:pic>
      <p:pic>
        <p:nvPicPr>
          <p:cNvPr id="3" name="図 2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AE9484EE-6C4B-BD3F-7273-720323E973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147" y="3065366"/>
            <a:ext cx="2528684" cy="142238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4082F5-117E-CD8E-0916-32BDD45BA493}"/>
              </a:ext>
            </a:extLst>
          </p:cNvPr>
          <p:cNvSpPr txBox="1"/>
          <p:nvPr/>
        </p:nvSpPr>
        <p:spPr>
          <a:xfrm>
            <a:off x="8514325" y="4059512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E4-CardSelecter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752BBDB-6A64-554F-C9CE-D8C2E4414167}"/>
              </a:ext>
            </a:extLst>
          </p:cNvPr>
          <p:cNvCxnSpPr>
            <a:cxnSpLocks/>
          </p:cNvCxnSpPr>
          <p:nvPr/>
        </p:nvCxnSpPr>
        <p:spPr>
          <a:xfrm flipH="1" flipV="1">
            <a:off x="7862772" y="4303904"/>
            <a:ext cx="629578" cy="18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635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DDB6-35D1-1749-6F12-0EE03C33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1C11C9D-0E80-AA14-2F8A-59B7128BD3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8096329-3281-0ECB-8881-9D455DA78CB0}"/>
              </a:ext>
            </a:extLst>
          </p:cNvPr>
          <p:cNvSpPr txBox="1"/>
          <p:nvPr/>
        </p:nvSpPr>
        <p:spPr>
          <a:xfrm>
            <a:off x="120520" y="-33891"/>
            <a:ext cx="24929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カード</a:t>
            </a:r>
            <a:endParaRPr kumimoji="1" lang="en-US" altLang="ja-JP" sz="3600" b="1" dirty="0"/>
          </a:p>
          <a:p>
            <a:r>
              <a:rPr lang="ja-JP" altLang="en-US" sz="3600" b="1" dirty="0"/>
              <a:t>召喚画面２</a:t>
            </a:r>
            <a:endParaRPr kumimoji="1" lang="ja-JP" altLang="en-US" sz="3600" b="1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54E8E34-2134-D7A5-5F8C-1A4B93141A4C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D843F4FB-23A2-24D6-3A36-C0BF57FF22E7}"/>
              </a:ext>
            </a:extLst>
          </p:cNvPr>
          <p:cNvSpPr txBox="1"/>
          <p:nvPr/>
        </p:nvSpPr>
        <p:spPr>
          <a:xfrm>
            <a:off x="391034" y="5256742"/>
            <a:ext cx="11149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M1’-ManaB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ar: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拡大表示して画面中央に移動。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マナをささげるボタンにする。捧げたマナを暗く表示する。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T1-TextWindow: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メッセージ表示</a:t>
            </a:r>
            <a:br>
              <a:rPr kumimoji="1"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);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 キャンセルするボタン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C1-ManaTable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（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M5-Manas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）</a:t>
            </a:r>
            <a:r>
              <a:rPr kumimoji="1"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;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必要なマナを暗く表示する。マナをささげると普通に表示する。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わっしーへ　背景に暗めの画像を挟んで見やすくしてください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BC78F06-3F53-D40A-6457-9FFBCDCC3F47}"/>
              </a:ext>
            </a:extLst>
          </p:cNvPr>
          <p:cNvCxnSpPr>
            <a:cxnSpLocks/>
          </p:cNvCxnSpPr>
          <p:nvPr/>
        </p:nvCxnSpPr>
        <p:spPr>
          <a:xfrm flipV="1">
            <a:off x="14756340" y="14220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図 11" descr="屋外, 作る, 座る, 写真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E23DBFA-66FB-C39F-1488-B9CE435E2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0" t="6150" r="33241" b="35525"/>
          <a:stretch>
            <a:fillRect/>
          </a:stretch>
        </p:blipFill>
        <p:spPr>
          <a:xfrm>
            <a:off x="11418366" y="2233257"/>
            <a:ext cx="532391" cy="64510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16EE004-8BB8-1305-7B20-29D11F0A59B2}"/>
              </a:ext>
            </a:extLst>
          </p:cNvPr>
          <p:cNvSpPr txBox="1"/>
          <p:nvPr/>
        </p:nvSpPr>
        <p:spPr>
          <a:xfrm>
            <a:off x="2729687" y="1447812"/>
            <a:ext cx="8899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/>
                </a:solidFill>
              </a:rPr>
              <a:t>カード効果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kumimoji="1" lang="en-US" altLang="ja-JP" sz="1100" dirty="0">
                <a:solidFill>
                  <a:schemeClr val="bg1"/>
                </a:solidFill>
              </a:rPr>
              <a:t>1-</a:t>
            </a:r>
            <a:r>
              <a:rPr kumimoji="1" lang="ja-JP" altLang="en-US" sz="1100" dirty="0">
                <a:solidFill>
                  <a:schemeClr val="bg1"/>
                </a:solidFill>
              </a:rPr>
              <a:t>説明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2-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3-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4-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5-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</p:txBody>
      </p:sp>
      <p:pic>
        <p:nvPicPr>
          <p:cNvPr id="28" name="図 2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E7F4BC9A-E09C-0FEF-07AE-9650F8CBF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921" y="3150686"/>
            <a:ext cx="776069" cy="77606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637E079-5493-D167-3B0F-30F089C435C2}"/>
              </a:ext>
            </a:extLst>
          </p:cNvPr>
          <p:cNvSpPr/>
          <p:nvPr/>
        </p:nvSpPr>
        <p:spPr>
          <a:xfrm>
            <a:off x="2613510" y="225710"/>
            <a:ext cx="8021251" cy="4286581"/>
          </a:xfrm>
          <a:prstGeom prst="rect">
            <a:avLst/>
          </a:prstGeom>
          <a:solidFill>
            <a:schemeClr val="dk1">
              <a:alpha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80CEE8B-493D-A9BF-2C10-FEA1243CA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630" y="1360058"/>
            <a:ext cx="1177509" cy="187015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16F644-1998-AF18-0C7A-F4704DC50E00}"/>
              </a:ext>
            </a:extLst>
          </p:cNvPr>
          <p:cNvSpPr txBox="1"/>
          <p:nvPr/>
        </p:nvSpPr>
        <p:spPr>
          <a:xfrm>
            <a:off x="4387554" y="98783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対象のカード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7" name="図 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90327AE-D8C9-8BDF-E1F9-CFEE18AF44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2" t="89853" r="54101"/>
          <a:stretch>
            <a:fillRect/>
          </a:stretch>
        </p:blipFill>
        <p:spPr>
          <a:xfrm>
            <a:off x="4387554" y="2878358"/>
            <a:ext cx="5024898" cy="876630"/>
          </a:xfrm>
          <a:prstGeom prst="rect">
            <a:avLst/>
          </a:prstGeom>
        </p:spPr>
      </p:pic>
      <p:pic>
        <p:nvPicPr>
          <p:cNvPr id="11" name="図 10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41082EF-CEAA-525A-3A65-38A206F3CF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350" y="3252334"/>
            <a:ext cx="327991" cy="327991"/>
          </a:xfrm>
          <a:prstGeom prst="rect">
            <a:avLst/>
          </a:prstGeom>
        </p:spPr>
      </p:pic>
      <p:pic>
        <p:nvPicPr>
          <p:cNvPr id="13" name="図 12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48FDFD7-E4C7-E6C6-581C-3828DF1BCC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152" y="3252333"/>
            <a:ext cx="327991" cy="327991"/>
          </a:xfrm>
          <a:prstGeom prst="rect">
            <a:avLst/>
          </a:prstGeom>
        </p:spPr>
      </p:pic>
      <p:pic>
        <p:nvPicPr>
          <p:cNvPr id="16" name="図 15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EE7AF9D-91CC-BBC9-982D-F8E3DB1809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137" y="3265004"/>
            <a:ext cx="327991" cy="327991"/>
          </a:xfrm>
          <a:prstGeom prst="rect">
            <a:avLst/>
          </a:prstGeom>
        </p:spPr>
      </p:pic>
      <p:pic>
        <p:nvPicPr>
          <p:cNvPr id="17" name="図 16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ECE562C-2077-9F46-4D5C-0A0828930A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122" y="3252333"/>
            <a:ext cx="327991" cy="327991"/>
          </a:xfrm>
          <a:prstGeom prst="rect">
            <a:avLst/>
          </a:prstGeom>
        </p:spPr>
      </p:pic>
      <p:pic>
        <p:nvPicPr>
          <p:cNvPr id="21" name="図 20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FD6D9EF-1F3A-00A1-BF07-836D5D68D6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107" y="3265004"/>
            <a:ext cx="327991" cy="327991"/>
          </a:xfrm>
          <a:prstGeom prst="rect">
            <a:avLst/>
          </a:prstGeom>
        </p:spPr>
      </p:pic>
      <p:pic>
        <p:nvPicPr>
          <p:cNvPr id="26" name="図 25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F2B05710-D277-9A01-7212-1A3A56BE57C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344" y="3617917"/>
            <a:ext cx="1451107" cy="362777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EFBEC69-F1C8-E2AC-A79C-25660799DA6F}"/>
              </a:ext>
            </a:extLst>
          </p:cNvPr>
          <p:cNvSpPr txBox="1"/>
          <p:nvPr/>
        </p:nvSpPr>
        <p:spPr>
          <a:xfrm>
            <a:off x="8445977" y="4177641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736B7BC-7D0B-BA83-087D-A894DBAC63E0}"/>
              </a:ext>
            </a:extLst>
          </p:cNvPr>
          <p:cNvCxnSpPr>
            <a:cxnSpLocks/>
          </p:cNvCxnSpPr>
          <p:nvPr/>
        </p:nvCxnSpPr>
        <p:spPr>
          <a:xfrm flipV="1">
            <a:off x="8449950" y="4070111"/>
            <a:ext cx="0" cy="2921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E0D5477-17D1-CA23-2F40-843CDA447467}"/>
              </a:ext>
            </a:extLst>
          </p:cNvPr>
          <p:cNvSpPr txBox="1"/>
          <p:nvPr/>
        </p:nvSpPr>
        <p:spPr>
          <a:xfrm>
            <a:off x="7951262" y="358792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キャンセル</a:t>
            </a:r>
          </a:p>
        </p:txBody>
      </p:sp>
      <p:pic>
        <p:nvPicPr>
          <p:cNvPr id="34" name="図 33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7C2A98F5-E380-552D-6364-C925C722CC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877" y="1066615"/>
            <a:ext cx="3446191" cy="1206347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7F0478D-4FCC-9D45-C049-17EC78BE13E8}"/>
              </a:ext>
            </a:extLst>
          </p:cNvPr>
          <p:cNvSpPr txBox="1"/>
          <p:nvPr/>
        </p:nvSpPr>
        <p:spPr>
          <a:xfrm>
            <a:off x="6701619" y="130045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マナをささげよ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37" name="図 36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73ECA8CC-25C7-67C0-D8AB-7F76952197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567" y="1217095"/>
            <a:ext cx="4214810" cy="2370831"/>
          </a:xfrm>
          <a:prstGeom prst="rect">
            <a:avLst/>
          </a:prstGeom>
        </p:spPr>
      </p:pic>
      <p:pic>
        <p:nvPicPr>
          <p:cNvPr id="41" name="図 40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74D34A4-ED5D-2792-5F1C-F1F4505A7E8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741" y="1844527"/>
            <a:ext cx="406400" cy="406400"/>
          </a:xfrm>
          <a:prstGeom prst="rect">
            <a:avLst/>
          </a:prstGeom>
        </p:spPr>
      </p:pic>
      <p:pic>
        <p:nvPicPr>
          <p:cNvPr id="42" name="図 41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798377D-6A6A-42C0-76DD-57D47F3A1FC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935" y="1844527"/>
            <a:ext cx="406400" cy="406400"/>
          </a:xfrm>
          <a:prstGeom prst="rect">
            <a:avLst/>
          </a:prstGeom>
        </p:spPr>
      </p:pic>
      <p:pic>
        <p:nvPicPr>
          <p:cNvPr id="43" name="図 42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29EAEE0-01A4-452D-BAEA-5868846AF9D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003" y="1855394"/>
            <a:ext cx="406400" cy="406400"/>
          </a:xfrm>
          <a:prstGeom prst="rect">
            <a:avLst/>
          </a:prstGeom>
        </p:spPr>
      </p:pic>
      <p:pic>
        <p:nvPicPr>
          <p:cNvPr id="44" name="図 43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ADEB66-44B2-8B38-EECE-9A03E817FBD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071" y="1866261"/>
            <a:ext cx="406400" cy="406400"/>
          </a:xfrm>
          <a:prstGeom prst="rect">
            <a:avLst/>
          </a:prstGeom>
        </p:spPr>
      </p:pic>
      <p:sp>
        <p:nvSpPr>
          <p:cNvPr id="46" name="楕円 45">
            <a:extLst>
              <a:ext uri="{FF2B5EF4-FFF2-40B4-BE49-F238E27FC236}">
                <a16:creationId xmlns:a16="http://schemas.microsoft.com/office/drawing/2014/main" id="{A6E5B86A-13E8-45E0-F110-9A55E9FD5673}"/>
              </a:ext>
            </a:extLst>
          </p:cNvPr>
          <p:cNvSpPr/>
          <p:nvPr/>
        </p:nvSpPr>
        <p:spPr>
          <a:xfrm>
            <a:off x="7845289" y="1866261"/>
            <a:ext cx="415606" cy="41560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53C9653-DFA3-B250-134D-960AB052A6C1}"/>
              </a:ext>
            </a:extLst>
          </p:cNvPr>
          <p:cNvSpPr txBox="1"/>
          <p:nvPr/>
        </p:nvSpPr>
        <p:spPr>
          <a:xfrm>
            <a:off x="4575173" y="380830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M1’-ManaBar</a:t>
            </a:r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916E9A37-6DBF-22AD-E7A4-B168E932D812}"/>
              </a:ext>
            </a:extLst>
          </p:cNvPr>
          <p:cNvCxnSpPr>
            <a:cxnSpLocks/>
          </p:cNvCxnSpPr>
          <p:nvPr/>
        </p:nvCxnSpPr>
        <p:spPr>
          <a:xfrm flipV="1">
            <a:off x="4579146" y="3700779"/>
            <a:ext cx="0" cy="2921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7E53C498-D207-3BD5-118E-B8920EFD002B}"/>
              </a:ext>
            </a:extLst>
          </p:cNvPr>
          <p:cNvSpPr txBox="1"/>
          <p:nvPr/>
        </p:nvSpPr>
        <p:spPr>
          <a:xfrm>
            <a:off x="8922312" y="89117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C1-ManaTable</a:t>
            </a: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(M5-Manas)</a:t>
            </a:r>
            <a:endParaRPr kumimoji="1"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27ADA82F-2244-2F64-B768-416658C58E63}"/>
              </a:ext>
            </a:extLst>
          </p:cNvPr>
          <p:cNvCxnSpPr>
            <a:cxnSpLocks/>
          </p:cNvCxnSpPr>
          <p:nvPr/>
        </p:nvCxnSpPr>
        <p:spPr>
          <a:xfrm flipV="1">
            <a:off x="9119143" y="1523690"/>
            <a:ext cx="0" cy="2921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719A9B6-35A7-52A2-1527-E18308D4D780}"/>
              </a:ext>
            </a:extLst>
          </p:cNvPr>
          <p:cNvSpPr txBox="1"/>
          <p:nvPr/>
        </p:nvSpPr>
        <p:spPr>
          <a:xfrm>
            <a:off x="6344113" y="545065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T1-TextWindow</a:t>
            </a: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CA15871B-5094-237C-4A3C-17E57FA076E2}"/>
              </a:ext>
            </a:extLst>
          </p:cNvPr>
          <p:cNvCxnSpPr>
            <a:cxnSpLocks/>
          </p:cNvCxnSpPr>
          <p:nvPr/>
        </p:nvCxnSpPr>
        <p:spPr>
          <a:xfrm flipV="1">
            <a:off x="6519743" y="936730"/>
            <a:ext cx="0" cy="2921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4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34DB-3C89-E24B-5E91-98835852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9619C80-7D6A-3FE9-8EEF-5F701DF22F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5EFF2EA-C8A1-F825-45B8-0C80BA5B863D}"/>
              </a:ext>
            </a:extLst>
          </p:cNvPr>
          <p:cNvSpPr txBox="1"/>
          <p:nvPr/>
        </p:nvSpPr>
        <p:spPr>
          <a:xfrm>
            <a:off x="120520" y="-33891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カード</a:t>
            </a:r>
            <a:endParaRPr kumimoji="1" lang="en-US" altLang="ja-JP" sz="3600" b="1" dirty="0"/>
          </a:p>
          <a:p>
            <a:r>
              <a:rPr lang="ja-JP" altLang="en-US" sz="3600" b="1" dirty="0"/>
              <a:t>詠唱</a:t>
            </a:r>
            <a:r>
              <a:rPr lang="en-US" altLang="ja-JP" sz="3600" b="1" dirty="0"/>
              <a:t>1</a:t>
            </a:r>
            <a:endParaRPr kumimoji="1" lang="ja-JP" altLang="en-US" sz="3600" b="1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CE21196-2074-9A67-957F-C750A673B04F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C7D087F-1161-FC52-89E9-0F939810D511}"/>
              </a:ext>
            </a:extLst>
          </p:cNvPr>
          <p:cNvSpPr txBox="1"/>
          <p:nvPr/>
        </p:nvSpPr>
        <p:spPr>
          <a:xfrm>
            <a:off x="391034" y="5256742"/>
            <a:ext cx="103412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E1-Target: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クリックした対象に配置する。カーソルが重なっている未指定ターゲットは点滅する。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T1-TextWindow:</a:t>
            </a:r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メッセージ表示</a:t>
            </a:r>
            <a:br>
              <a:rPr kumimoji="1"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);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 キャンセルするボタン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52872E9-C8F9-6604-EC60-F52B98084E24}"/>
              </a:ext>
            </a:extLst>
          </p:cNvPr>
          <p:cNvCxnSpPr>
            <a:cxnSpLocks/>
          </p:cNvCxnSpPr>
          <p:nvPr/>
        </p:nvCxnSpPr>
        <p:spPr>
          <a:xfrm flipV="1">
            <a:off x="14756340" y="14220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図 2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00AE26EC-8B9A-7341-37D0-D838DB8BA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921" y="3150686"/>
            <a:ext cx="776069" cy="776069"/>
          </a:xfrm>
          <a:prstGeom prst="rect">
            <a:avLst/>
          </a:prstGeom>
        </p:spPr>
      </p:pic>
      <p:pic>
        <p:nvPicPr>
          <p:cNvPr id="4" name="図 3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604D9385-5207-DD6A-465E-CDC81F15F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394" y="485348"/>
            <a:ext cx="4748922" cy="188365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F98640-7A81-A8E5-7FCC-B41A0D594937}"/>
              </a:ext>
            </a:extLst>
          </p:cNvPr>
          <p:cNvSpPr txBox="1"/>
          <p:nvPr/>
        </p:nvSpPr>
        <p:spPr>
          <a:xfrm>
            <a:off x="6320391" y="17086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T1-TextWidnow</a:t>
            </a:r>
            <a:endParaRPr kumimoji="1"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8B99ED4-7581-1873-BF1B-BF5171BCBF91}"/>
              </a:ext>
            </a:extLst>
          </p:cNvPr>
          <p:cNvCxnSpPr>
            <a:cxnSpLocks/>
          </p:cNvCxnSpPr>
          <p:nvPr/>
        </p:nvCxnSpPr>
        <p:spPr>
          <a:xfrm>
            <a:off x="6298416" y="433698"/>
            <a:ext cx="0" cy="267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796D0F-74BA-B284-2B39-B8ACD0965402}"/>
              </a:ext>
            </a:extLst>
          </p:cNvPr>
          <p:cNvSpPr txBox="1"/>
          <p:nvPr/>
        </p:nvSpPr>
        <p:spPr>
          <a:xfrm>
            <a:off x="5212695" y="77601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効果を使うカードを選びたまえ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効果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  <a:sym typeface="Wingdings" panose="05000000000000000000" pitchFamily="2" charset="2"/>
              </a:rPr>
              <a:t>:(example)2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  <a:sym typeface="Wingdings" panose="05000000000000000000" pitchFamily="2" charset="2"/>
              </a:rPr>
              <a:t>体破壊</a:t>
            </a:r>
            <a:endParaRPr kumimoji="1" lang="ja-JP" altLang="en-US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18" name="図 17" descr="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D94FEAB-57C9-7385-FD2C-0F9CB2300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155" y="1702239"/>
            <a:ext cx="790036" cy="1254764"/>
          </a:xfrm>
          <a:prstGeom prst="rect">
            <a:avLst/>
          </a:prstGeom>
        </p:spPr>
      </p:pic>
      <p:pic>
        <p:nvPicPr>
          <p:cNvPr id="19" name="図 18" descr="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90CA8AB-EDBE-325D-E401-B182FE496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837" y="1702239"/>
            <a:ext cx="790036" cy="1254764"/>
          </a:xfrm>
          <a:prstGeom prst="rect">
            <a:avLst/>
          </a:prstGeom>
        </p:spPr>
      </p:pic>
      <p:pic>
        <p:nvPicPr>
          <p:cNvPr id="23" name="図 22" descr="黒い背景とぼやけた背景&#10;&#10;AI 生成コンテンツは誤りを含む可能性があります。">
            <a:extLst>
              <a:ext uri="{FF2B5EF4-FFF2-40B4-BE49-F238E27FC236}">
                <a16:creationId xmlns:a16="http://schemas.microsoft.com/office/drawing/2014/main" id="{8CD48242-9CD8-7EED-AA8B-E4DBAA1283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497" y="1547301"/>
            <a:ext cx="2126512" cy="1196163"/>
          </a:xfrm>
          <a:prstGeom prst="rect">
            <a:avLst/>
          </a:prstGeom>
        </p:spPr>
      </p:pic>
      <p:pic>
        <p:nvPicPr>
          <p:cNvPr id="31" name="図 30" descr="黒い背景とぼやけた背景&#10;&#10;AI 生成コンテンツは誤りを含む可能性があります。">
            <a:extLst>
              <a:ext uri="{FF2B5EF4-FFF2-40B4-BE49-F238E27FC236}">
                <a16:creationId xmlns:a16="http://schemas.microsoft.com/office/drawing/2014/main" id="{FB3849ED-CC25-4CB8-33F6-C1C3496CDD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956" y="1509576"/>
            <a:ext cx="2126512" cy="1196163"/>
          </a:xfrm>
          <a:prstGeom prst="rect">
            <a:avLst/>
          </a:prstGeom>
        </p:spPr>
      </p:pic>
      <p:pic>
        <p:nvPicPr>
          <p:cNvPr id="33" name="図 32" descr="黒い背景とぼやけた背景&#10;&#10;AI 生成コンテンツは誤りを含む可能性があります。">
            <a:extLst>
              <a:ext uri="{FF2B5EF4-FFF2-40B4-BE49-F238E27FC236}">
                <a16:creationId xmlns:a16="http://schemas.microsoft.com/office/drawing/2014/main" id="{C5431564-01E7-2D04-B0F9-F6C9622D19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632" y="1528438"/>
            <a:ext cx="2126512" cy="1196163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E3A6BD-F921-1790-4886-9FF11AF8A0D7}"/>
              </a:ext>
            </a:extLst>
          </p:cNvPr>
          <p:cNvSpPr txBox="1"/>
          <p:nvPr/>
        </p:nvSpPr>
        <p:spPr>
          <a:xfrm>
            <a:off x="6772025" y="275479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E1-Target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34428DA-F4FC-8B5B-01F5-327DC47034BB}"/>
              </a:ext>
            </a:extLst>
          </p:cNvPr>
          <p:cNvCxnSpPr>
            <a:cxnSpLocks/>
          </p:cNvCxnSpPr>
          <p:nvPr/>
        </p:nvCxnSpPr>
        <p:spPr>
          <a:xfrm flipH="1" flipV="1">
            <a:off x="6102726" y="2792780"/>
            <a:ext cx="712448" cy="323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512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4D17-A82B-60AD-8E2B-4AB3AF9A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A37CD67-B8ED-2053-556F-58001A2C6E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BDB3EA9-1602-7E77-6944-8BC115B43C19}"/>
              </a:ext>
            </a:extLst>
          </p:cNvPr>
          <p:cNvSpPr/>
          <p:nvPr/>
        </p:nvSpPr>
        <p:spPr>
          <a:xfrm>
            <a:off x="2613510" y="225710"/>
            <a:ext cx="8021251" cy="4286581"/>
          </a:xfrm>
          <a:prstGeom prst="rect">
            <a:avLst/>
          </a:prstGeom>
          <a:solidFill>
            <a:schemeClr val="dk1">
              <a:alpha val="1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ADAC68C-841F-D51A-6FBB-44764D8B50FC}"/>
              </a:ext>
            </a:extLst>
          </p:cNvPr>
          <p:cNvSpPr txBox="1"/>
          <p:nvPr/>
        </p:nvSpPr>
        <p:spPr>
          <a:xfrm>
            <a:off x="120520" y="-33891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カード</a:t>
            </a:r>
            <a:endParaRPr kumimoji="1" lang="en-US" altLang="ja-JP" sz="3600" b="1" dirty="0"/>
          </a:p>
          <a:p>
            <a:r>
              <a:rPr lang="ja-JP" altLang="en-US" sz="3600" b="1" dirty="0"/>
              <a:t>詠唱</a:t>
            </a:r>
            <a:r>
              <a:rPr lang="en-US" altLang="ja-JP" sz="3600" b="1" dirty="0"/>
              <a:t>1</a:t>
            </a:r>
            <a:endParaRPr kumimoji="1" lang="ja-JP" altLang="en-US" sz="3600" b="1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4BBB6D1-AF2B-AC8A-E50C-FC5455AB3FC7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8F1FD4E3-E533-7F1C-B296-C8BB759F7D64}"/>
              </a:ext>
            </a:extLst>
          </p:cNvPr>
          <p:cNvSpPr txBox="1"/>
          <p:nvPr/>
        </p:nvSpPr>
        <p:spPr>
          <a:xfrm>
            <a:off x="391034" y="5256742"/>
            <a:ext cx="89562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ー</a:t>
            </a:r>
            <a:r>
              <a:rPr lang="en-US" altLang="ja-JP" b="1" dirty="0" err="1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TextWindow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効果を表示する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E2-SpellEffects: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キムテヒさんへ→完成しているので制作不要です。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鷲田へ→現在船原君がアニメーションを制作してます。　仮画像だけおいてください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背景に暗めの画像を挟んで見やすくしてください</a:t>
            </a:r>
          </a:p>
          <a:p>
            <a:endParaRPr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2CAEBD5-F055-2767-A7F9-A9ACFAAF6E4A}"/>
              </a:ext>
            </a:extLst>
          </p:cNvPr>
          <p:cNvCxnSpPr>
            <a:cxnSpLocks/>
          </p:cNvCxnSpPr>
          <p:nvPr/>
        </p:nvCxnSpPr>
        <p:spPr>
          <a:xfrm flipV="1">
            <a:off x="14756340" y="14220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8" name="図 2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91022FD1-197A-9DC0-34F8-5E4920EE5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921" y="3150686"/>
            <a:ext cx="776069" cy="776069"/>
          </a:xfrm>
          <a:prstGeom prst="rect">
            <a:avLst/>
          </a:prstGeom>
        </p:spPr>
      </p:pic>
      <p:pic>
        <p:nvPicPr>
          <p:cNvPr id="3" name="図 2" descr="背景パター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EC6B431-F5EC-5293-2954-BBA3436FD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300" y="61195"/>
            <a:ext cx="8021252" cy="4511955"/>
          </a:xfrm>
          <a:prstGeom prst="rect">
            <a:avLst/>
          </a:prstGeom>
        </p:spPr>
      </p:pic>
      <p:pic>
        <p:nvPicPr>
          <p:cNvPr id="17" name="図 16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AC7F1E3F-2172-E3EA-3A7E-5158552FD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006" y="2206131"/>
            <a:ext cx="8339264" cy="3307751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4DB7C5-6DA1-AB8C-AF60-7883A57CF627}"/>
              </a:ext>
            </a:extLst>
          </p:cNvPr>
          <p:cNvSpPr txBox="1"/>
          <p:nvPr/>
        </p:nvSpPr>
        <p:spPr>
          <a:xfrm>
            <a:off x="3369132" y="2759469"/>
            <a:ext cx="2492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効果発動！</a:t>
            </a:r>
            <a:endParaRPr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【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カード名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or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タグ名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】</a:t>
            </a: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【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効果説明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】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　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1F03031-4EE8-CE29-CAF1-8B5A4CE66660}"/>
              </a:ext>
            </a:extLst>
          </p:cNvPr>
          <p:cNvSpPr txBox="1"/>
          <p:nvPr/>
        </p:nvSpPr>
        <p:spPr>
          <a:xfrm>
            <a:off x="3771161" y="41336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C1-ManaCharage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C85B9A2-3D8C-C581-28CE-42CF6806E73B}"/>
              </a:ext>
            </a:extLst>
          </p:cNvPr>
          <p:cNvCxnSpPr>
            <a:cxnSpLocks/>
          </p:cNvCxnSpPr>
          <p:nvPr/>
        </p:nvCxnSpPr>
        <p:spPr>
          <a:xfrm flipV="1">
            <a:off x="3767159" y="3926755"/>
            <a:ext cx="0" cy="5409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図 33">
            <a:extLst>
              <a:ext uri="{FF2B5EF4-FFF2-40B4-BE49-F238E27FC236}">
                <a16:creationId xmlns:a16="http://schemas.microsoft.com/office/drawing/2014/main" id="{8EA7CDE4-0BDE-5A8C-8830-9B56ABDCAE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71"/>
          <a:stretch>
            <a:fillRect/>
          </a:stretch>
        </p:blipFill>
        <p:spPr>
          <a:xfrm>
            <a:off x="2604295" y="1166438"/>
            <a:ext cx="7911298" cy="762106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D4446456-233B-AFA0-9032-6ACA51E203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68" b="35955"/>
          <a:stretch>
            <a:fillRect/>
          </a:stretch>
        </p:blipFill>
        <p:spPr>
          <a:xfrm>
            <a:off x="5209742" y="477520"/>
            <a:ext cx="2361793" cy="2020986"/>
          </a:xfrm>
          <a:prstGeom prst="rect">
            <a:avLst/>
          </a:prstGeom>
        </p:spPr>
      </p:pic>
      <p:pic>
        <p:nvPicPr>
          <p:cNvPr id="8" name="図 7" descr="建物, ブライン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572DE6B-BADC-9AE5-BB4D-1EDD5864C98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305" y="2135841"/>
            <a:ext cx="8021251" cy="362665"/>
          </a:xfrm>
          <a:prstGeom prst="rect">
            <a:avLst/>
          </a:prstGeom>
        </p:spPr>
      </p:pic>
      <p:pic>
        <p:nvPicPr>
          <p:cNvPr id="9" name="図 8" descr="建物, ブライン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1768494-16CE-506F-4E54-5A5AC25DD01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301" y="555259"/>
            <a:ext cx="8021251" cy="36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37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FC3B-362C-8858-E577-9072F4BA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BE54F6F-14CC-EFDD-750B-1B1B53CF95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027F84D-C285-1375-C461-E97A8A2F6D12}"/>
              </a:ext>
            </a:extLst>
          </p:cNvPr>
          <p:cNvSpPr txBox="1"/>
          <p:nvPr/>
        </p:nvSpPr>
        <p:spPr>
          <a:xfrm>
            <a:off x="120520" y="0"/>
            <a:ext cx="2295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戦闘画面</a:t>
            </a:r>
            <a:r>
              <a:rPr kumimoji="1" lang="en-US" altLang="ja-JP" sz="3600" b="1" dirty="0"/>
              <a:t>1</a:t>
            </a:r>
            <a:endParaRPr kumimoji="1" lang="ja-JP" altLang="en-US" sz="3600" b="1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8C40522-1546-A9C1-B035-2522E05A3551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1E884B0-720E-A0C6-7BA0-16AE8B566E6E}"/>
              </a:ext>
            </a:extLst>
          </p:cNvPr>
          <p:cNvSpPr txBox="1"/>
          <p:nvPr/>
        </p:nvSpPr>
        <p:spPr>
          <a:xfrm>
            <a:off x="26749" y="4887410"/>
            <a:ext cx="72250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戦闘開始を押した後の画面です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S1S2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：カーソルの重なったカードの情報を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Unity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のテキストで表示。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戦闘を終了させるボタン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クリックすると対象選択画面へ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kumimoji="1" lang="ja-JP" altLang="en-US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CD20A7-46BD-9AB0-25B6-A252FCC91EF3}"/>
              </a:ext>
            </a:extLst>
          </p:cNvPr>
          <p:cNvSpPr txBox="1"/>
          <p:nvPr/>
        </p:nvSpPr>
        <p:spPr>
          <a:xfrm>
            <a:off x="4906667" y="2399012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S1-Blue</a:t>
            </a:r>
            <a:b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S2-Red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50F09FB-0495-0AC3-B33E-A8B305BC697D}"/>
              </a:ext>
            </a:extLst>
          </p:cNvPr>
          <p:cNvCxnSpPr>
            <a:cxnSpLocks/>
          </p:cNvCxnSpPr>
          <p:nvPr/>
        </p:nvCxnSpPr>
        <p:spPr>
          <a:xfrm flipH="1" flipV="1">
            <a:off x="4237368" y="2436994"/>
            <a:ext cx="712448" cy="323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DD0F4AF-647D-0EBA-3815-B0DAFBF90DFB}"/>
              </a:ext>
            </a:extLst>
          </p:cNvPr>
          <p:cNvSpPr txBox="1"/>
          <p:nvPr/>
        </p:nvSpPr>
        <p:spPr>
          <a:xfrm>
            <a:off x="6890077" y="278590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手札もしくは場のカード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89C9743-D0AA-8FB5-0447-B27A34C29E80}"/>
              </a:ext>
            </a:extLst>
          </p:cNvPr>
          <p:cNvCxnSpPr>
            <a:cxnSpLocks/>
          </p:cNvCxnSpPr>
          <p:nvPr/>
        </p:nvCxnSpPr>
        <p:spPr>
          <a:xfrm flipV="1">
            <a:off x="14756340" y="14220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34422F6-A3EA-8A5C-8502-7029F16BF5FC}"/>
              </a:ext>
            </a:extLst>
          </p:cNvPr>
          <p:cNvSpPr txBox="1"/>
          <p:nvPr/>
        </p:nvSpPr>
        <p:spPr>
          <a:xfrm>
            <a:off x="2721584" y="3596699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7B156DA6-04FD-5D8F-B7DE-C46D4CFBD6D8}"/>
              </a:ext>
            </a:extLst>
          </p:cNvPr>
          <p:cNvCxnSpPr>
            <a:cxnSpLocks/>
          </p:cNvCxnSpPr>
          <p:nvPr/>
        </p:nvCxnSpPr>
        <p:spPr>
          <a:xfrm flipV="1">
            <a:off x="3339541" y="3394582"/>
            <a:ext cx="0" cy="251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099A81F7-B4EA-F570-0184-78B100479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462" y="3276597"/>
            <a:ext cx="682055" cy="1083263"/>
          </a:xfrm>
          <a:prstGeom prst="rect">
            <a:avLst/>
          </a:prstGeom>
        </p:spPr>
      </p:pic>
      <p:pic>
        <p:nvPicPr>
          <p:cNvPr id="10" name="図 9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9F245039-4D1F-FFAE-C456-6CB6BF880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871" y="499877"/>
            <a:ext cx="3805284" cy="2140472"/>
          </a:xfrm>
          <a:prstGeom prst="rect">
            <a:avLst/>
          </a:prstGeom>
        </p:spPr>
      </p:pic>
      <p:pic>
        <p:nvPicPr>
          <p:cNvPr id="12" name="図 11" descr="屋外, 作る, 座る, 写真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4AF40DB-08FB-DA92-54CE-08160405E1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0" t="6150" r="33241" b="35525"/>
          <a:stretch>
            <a:fillRect/>
          </a:stretch>
        </p:blipFill>
        <p:spPr>
          <a:xfrm>
            <a:off x="2866792" y="778292"/>
            <a:ext cx="532391" cy="645101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D8FC31B-8C8A-CBD8-4C98-246CF5EC9F4C}"/>
              </a:ext>
            </a:extLst>
          </p:cNvPr>
          <p:cNvSpPr txBox="1"/>
          <p:nvPr/>
        </p:nvSpPr>
        <p:spPr>
          <a:xfrm>
            <a:off x="3443069" y="737033"/>
            <a:ext cx="74892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/>
                </a:solidFill>
              </a:rPr>
              <a:t>カード名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lang="en-US" altLang="ja-JP" sz="1100" dirty="0">
                <a:solidFill>
                  <a:schemeClr val="bg1"/>
                </a:solidFill>
              </a:rPr>
              <a:t>AP</a:t>
            </a:r>
          </a:p>
          <a:p>
            <a:r>
              <a:rPr kumimoji="1" lang="en-US" altLang="ja-JP" sz="1100" dirty="0">
                <a:solidFill>
                  <a:schemeClr val="bg1"/>
                </a:solidFill>
              </a:rPr>
              <a:t>BP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83B4D52-757A-AB81-33D9-F53EF0222524}"/>
              </a:ext>
            </a:extLst>
          </p:cNvPr>
          <p:cNvSpPr txBox="1"/>
          <p:nvPr/>
        </p:nvSpPr>
        <p:spPr>
          <a:xfrm>
            <a:off x="2729687" y="1447812"/>
            <a:ext cx="8899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/>
                </a:solidFill>
              </a:rPr>
              <a:t>カード効果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kumimoji="1" lang="en-US" altLang="ja-JP" sz="1100" dirty="0">
                <a:solidFill>
                  <a:schemeClr val="bg1"/>
                </a:solidFill>
              </a:rPr>
              <a:t>1-</a:t>
            </a:r>
            <a:r>
              <a:rPr kumimoji="1" lang="ja-JP" altLang="en-US" sz="1100" dirty="0">
                <a:solidFill>
                  <a:schemeClr val="bg1"/>
                </a:solidFill>
              </a:rPr>
              <a:t>説明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2-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3-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4-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5-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</p:txBody>
      </p:sp>
      <p:pic>
        <p:nvPicPr>
          <p:cNvPr id="18" name="図 17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7785E731-46F2-563C-B9F1-64A33FEDC0F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687" y="2887032"/>
            <a:ext cx="1720935" cy="43023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BAB8FDE-5B4F-F07F-C658-CB70FF294CB8}"/>
              </a:ext>
            </a:extLst>
          </p:cNvPr>
          <p:cNvSpPr txBox="1"/>
          <p:nvPr/>
        </p:nvSpPr>
        <p:spPr>
          <a:xfrm>
            <a:off x="3017852" y="28870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戦闘終了</a:t>
            </a:r>
          </a:p>
        </p:txBody>
      </p:sp>
      <p:pic>
        <p:nvPicPr>
          <p:cNvPr id="28" name="図 2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EDA91F58-63A9-8BEE-2487-25090AE40A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07" y="3430193"/>
            <a:ext cx="776069" cy="776069"/>
          </a:xfrm>
          <a:prstGeom prst="rect">
            <a:avLst/>
          </a:prstGeom>
        </p:spPr>
      </p:pic>
      <p:pic>
        <p:nvPicPr>
          <p:cNvPr id="5" name="図 4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A36E5611-A43E-0F0A-3A78-178E1B5BC0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613" y="465854"/>
            <a:ext cx="4748922" cy="188365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3FC40E-3F47-5D8B-C83E-14C3451D355A}"/>
              </a:ext>
            </a:extLst>
          </p:cNvPr>
          <p:cNvSpPr txBox="1"/>
          <p:nvPr/>
        </p:nvSpPr>
        <p:spPr>
          <a:xfrm>
            <a:off x="5749895" y="78577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攻撃させるカードを選びたまえ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ED7A78-CD19-A560-66E1-12CB5F6F3275}"/>
              </a:ext>
            </a:extLst>
          </p:cNvPr>
          <p:cNvSpPr txBox="1"/>
          <p:nvPr/>
        </p:nvSpPr>
        <p:spPr>
          <a:xfrm>
            <a:off x="6470848" y="212672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T1-TextWidnow</a:t>
            </a:r>
            <a:endParaRPr kumimoji="1"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EF1A71F-1CCB-9DD6-DDF6-89337E8F0AF7}"/>
              </a:ext>
            </a:extLst>
          </p:cNvPr>
          <p:cNvCxnSpPr>
            <a:cxnSpLocks/>
          </p:cNvCxnSpPr>
          <p:nvPr/>
        </p:nvCxnSpPr>
        <p:spPr>
          <a:xfrm>
            <a:off x="6448873" y="475509"/>
            <a:ext cx="0" cy="267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850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2EB9-151C-DBDB-B6CD-B47A2E2B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図形, 正方形&#10;&#10;AI 生成コンテンツは誤りを含む可能性があります。">
            <a:extLst>
              <a:ext uri="{FF2B5EF4-FFF2-40B4-BE49-F238E27FC236}">
                <a16:creationId xmlns:a16="http://schemas.microsoft.com/office/drawing/2014/main" id="{0F66A994-F19F-1B00-8ABA-835B1CF89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96" y="508960"/>
            <a:ext cx="3925652" cy="2208179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019C539-FE41-BB52-E263-FA8AB06D18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B420C2E-A541-64DD-56C9-BFE4A7530959}"/>
              </a:ext>
            </a:extLst>
          </p:cNvPr>
          <p:cNvSpPr txBox="1"/>
          <p:nvPr/>
        </p:nvSpPr>
        <p:spPr>
          <a:xfrm>
            <a:off x="120520" y="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戦闘画面２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C6DEB8B-58CC-C2E6-C5C1-5049A6C21A8A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456E3CF-D595-869A-8351-839813049052}"/>
              </a:ext>
            </a:extLst>
          </p:cNvPr>
          <p:cNvSpPr txBox="1"/>
          <p:nvPr/>
        </p:nvSpPr>
        <p:spPr>
          <a:xfrm>
            <a:off x="26749" y="4887410"/>
            <a:ext cx="124187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戦闘開始を押した後の画面です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S1S2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：カーソルの重なったカードの情報を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Unity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のテキストで表示。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キャンセル</a:t>
            </a:r>
            <a:b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E1-Target: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クリックした対象に配置する。カーソルが重なっている未指定ターゲットは点滅する。プレイヤーアイコン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だとプレイヤーアタックになる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E3-Attacker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攻撃させるユニットに剣のマークを付ける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kumimoji="1" lang="ja-JP" altLang="en-US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198B4F-AA96-17B4-6BFC-883F791279F0}"/>
              </a:ext>
            </a:extLst>
          </p:cNvPr>
          <p:cNvSpPr txBox="1"/>
          <p:nvPr/>
        </p:nvSpPr>
        <p:spPr>
          <a:xfrm>
            <a:off x="4906667" y="2399012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S1-Blue</a:t>
            </a:r>
            <a:b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S2-Red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A50CF0F-B231-1B5A-34CD-1952DFB4DF18}"/>
              </a:ext>
            </a:extLst>
          </p:cNvPr>
          <p:cNvCxnSpPr>
            <a:cxnSpLocks/>
          </p:cNvCxnSpPr>
          <p:nvPr/>
        </p:nvCxnSpPr>
        <p:spPr>
          <a:xfrm flipH="1" flipV="1">
            <a:off x="4237368" y="2436994"/>
            <a:ext cx="712448" cy="323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85DF1D7-BCD2-CB24-CE73-BB899DDC3BD2}"/>
              </a:ext>
            </a:extLst>
          </p:cNvPr>
          <p:cNvCxnSpPr>
            <a:cxnSpLocks/>
          </p:cNvCxnSpPr>
          <p:nvPr/>
        </p:nvCxnSpPr>
        <p:spPr>
          <a:xfrm flipV="1">
            <a:off x="14756340" y="14220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4D56ACD-E40E-5693-4D09-A1F37EA63403}"/>
              </a:ext>
            </a:extLst>
          </p:cNvPr>
          <p:cNvSpPr txBox="1"/>
          <p:nvPr/>
        </p:nvSpPr>
        <p:spPr>
          <a:xfrm>
            <a:off x="8514325" y="402159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443EF091-63CF-6F6D-9CA8-AD7BC286C24F}"/>
              </a:ext>
            </a:extLst>
          </p:cNvPr>
          <p:cNvCxnSpPr>
            <a:cxnSpLocks/>
          </p:cNvCxnSpPr>
          <p:nvPr/>
        </p:nvCxnSpPr>
        <p:spPr>
          <a:xfrm flipV="1">
            <a:off x="9132282" y="3819479"/>
            <a:ext cx="0" cy="251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141C2A88-AFA1-9525-1F6C-6547FFF26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462" y="3276597"/>
            <a:ext cx="682055" cy="1083263"/>
          </a:xfrm>
          <a:prstGeom prst="rect">
            <a:avLst/>
          </a:prstGeom>
        </p:spPr>
      </p:pic>
      <p:pic>
        <p:nvPicPr>
          <p:cNvPr id="12" name="図 11" descr="屋外, 作る, 座る, 写真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5CFFA57-0983-8C75-EA03-600A198E89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0" t="6150" r="33241" b="35525"/>
          <a:stretch>
            <a:fillRect/>
          </a:stretch>
        </p:blipFill>
        <p:spPr>
          <a:xfrm>
            <a:off x="2866792" y="778292"/>
            <a:ext cx="532391" cy="645101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47D556A-56B4-3613-3CD7-C5A44AD1BD4B}"/>
              </a:ext>
            </a:extLst>
          </p:cNvPr>
          <p:cNvSpPr txBox="1"/>
          <p:nvPr/>
        </p:nvSpPr>
        <p:spPr>
          <a:xfrm>
            <a:off x="3443069" y="737033"/>
            <a:ext cx="74892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/>
                </a:solidFill>
              </a:rPr>
              <a:t>カード名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lang="en-US" altLang="ja-JP" sz="1100" dirty="0">
                <a:solidFill>
                  <a:schemeClr val="bg1"/>
                </a:solidFill>
              </a:rPr>
              <a:t>AP</a:t>
            </a:r>
          </a:p>
          <a:p>
            <a:r>
              <a:rPr kumimoji="1" lang="en-US" altLang="ja-JP" sz="1100" dirty="0">
                <a:solidFill>
                  <a:schemeClr val="bg1"/>
                </a:solidFill>
              </a:rPr>
              <a:t>BP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7BE5C24-F5D7-C661-F8A6-D3D513AE204D}"/>
              </a:ext>
            </a:extLst>
          </p:cNvPr>
          <p:cNvSpPr txBox="1"/>
          <p:nvPr/>
        </p:nvSpPr>
        <p:spPr>
          <a:xfrm>
            <a:off x="2729687" y="1447812"/>
            <a:ext cx="8899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/>
                </a:solidFill>
              </a:rPr>
              <a:t>カード効果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kumimoji="1" lang="en-US" altLang="ja-JP" sz="1100" dirty="0">
                <a:solidFill>
                  <a:schemeClr val="bg1"/>
                </a:solidFill>
              </a:rPr>
              <a:t>1-</a:t>
            </a:r>
            <a:r>
              <a:rPr kumimoji="1" lang="ja-JP" altLang="en-US" sz="1100" dirty="0">
                <a:solidFill>
                  <a:schemeClr val="bg1"/>
                </a:solidFill>
              </a:rPr>
              <a:t>説明</a:t>
            </a:r>
            <a:endParaRPr kumimoji="1"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2-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kumimoji="1"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3-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4-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  <a:p>
            <a:r>
              <a:rPr lang="ja-JP" altLang="en-US" sz="1100" dirty="0">
                <a:solidFill>
                  <a:schemeClr val="bg1"/>
                </a:solidFill>
              </a:rPr>
              <a:t>タグ</a:t>
            </a:r>
            <a:r>
              <a:rPr lang="en-US" altLang="ja-JP" sz="1100" dirty="0">
                <a:solidFill>
                  <a:schemeClr val="bg1"/>
                </a:solidFill>
              </a:rPr>
              <a:t>5-</a:t>
            </a:r>
            <a:r>
              <a:rPr lang="ja-JP" altLang="en-US" sz="1100" dirty="0">
                <a:solidFill>
                  <a:schemeClr val="bg1"/>
                </a:solidFill>
              </a:rPr>
              <a:t>説明</a:t>
            </a:r>
            <a:endParaRPr lang="en-US" altLang="ja-JP" sz="1100" dirty="0">
              <a:solidFill>
                <a:schemeClr val="bg1"/>
              </a:solidFill>
            </a:endParaRPr>
          </a:p>
        </p:txBody>
      </p:sp>
      <p:pic>
        <p:nvPicPr>
          <p:cNvPr id="18" name="図 17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B79A067D-FB8D-6D5C-1C2E-D8B737D0C41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428" y="3311929"/>
            <a:ext cx="1720935" cy="43023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4E843F0-FE5A-9760-82EF-00A5B55B09CC}"/>
              </a:ext>
            </a:extLst>
          </p:cNvPr>
          <p:cNvSpPr txBox="1"/>
          <p:nvPr/>
        </p:nvSpPr>
        <p:spPr>
          <a:xfrm>
            <a:off x="8810593" y="331192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キャンセル</a:t>
            </a:r>
          </a:p>
        </p:txBody>
      </p:sp>
      <p:pic>
        <p:nvPicPr>
          <p:cNvPr id="5" name="図 4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91FDD1FE-9246-BA28-179A-89022A7255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613" y="465854"/>
            <a:ext cx="4748922" cy="188365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ECE3B2-E376-6C99-EBA9-98C5D3BC8EF7}"/>
              </a:ext>
            </a:extLst>
          </p:cNvPr>
          <p:cNvSpPr txBox="1"/>
          <p:nvPr/>
        </p:nvSpPr>
        <p:spPr>
          <a:xfrm>
            <a:off x="5749895" y="78577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攻撃させるカードを選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びたまへ</a:t>
            </a:r>
            <a:endParaRPr kumimoji="1" lang="ja-JP" altLang="en-US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8AD9400-7F9F-94F6-CE2C-F04C3A7A4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740" y="1766478"/>
            <a:ext cx="682055" cy="1083263"/>
          </a:xfrm>
          <a:prstGeom prst="rect">
            <a:avLst/>
          </a:prstGeom>
        </p:spPr>
      </p:pic>
      <p:pic>
        <p:nvPicPr>
          <p:cNvPr id="28" name="図 2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8CB1C680-F447-EC7D-1197-4038B49D5D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155" y="2455057"/>
            <a:ext cx="776069" cy="776069"/>
          </a:xfrm>
          <a:prstGeom prst="rect">
            <a:avLst/>
          </a:prstGeom>
        </p:spPr>
      </p:pic>
      <p:pic>
        <p:nvPicPr>
          <p:cNvPr id="3" name="図 2" descr="黒い背景とぼやけた背景&#10;&#10;AI 生成コンテンツは誤りを含む可能性があります。">
            <a:extLst>
              <a:ext uri="{FF2B5EF4-FFF2-40B4-BE49-F238E27FC236}">
                <a16:creationId xmlns:a16="http://schemas.microsoft.com/office/drawing/2014/main" id="{3423D848-6DA0-189C-C572-E4835B094F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11" y="1704544"/>
            <a:ext cx="2126512" cy="1196163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843AEE5-87D3-BADE-A7C2-3A0EA1F3E23E}"/>
              </a:ext>
            </a:extLst>
          </p:cNvPr>
          <p:cNvSpPr txBox="1"/>
          <p:nvPr/>
        </p:nvSpPr>
        <p:spPr>
          <a:xfrm>
            <a:off x="8298626" y="236645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E1-Target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456726C-DDE3-7D3F-7780-761A81AE0B8E}"/>
              </a:ext>
            </a:extLst>
          </p:cNvPr>
          <p:cNvCxnSpPr>
            <a:cxnSpLocks/>
          </p:cNvCxnSpPr>
          <p:nvPr/>
        </p:nvCxnSpPr>
        <p:spPr>
          <a:xfrm flipH="1" flipV="1">
            <a:off x="7629327" y="2404441"/>
            <a:ext cx="712448" cy="323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4999226-2E8C-4289-CF12-2F60B40F3CBD}"/>
              </a:ext>
            </a:extLst>
          </p:cNvPr>
          <p:cNvSpPr txBox="1"/>
          <p:nvPr/>
        </p:nvSpPr>
        <p:spPr>
          <a:xfrm>
            <a:off x="6320391" y="17086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T1-TextWidnow</a:t>
            </a:r>
            <a:endParaRPr kumimoji="1"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DBB77DB-50E8-BC77-365F-34F7D0A11489}"/>
              </a:ext>
            </a:extLst>
          </p:cNvPr>
          <p:cNvCxnSpPr>
            <a:cxnSpLocks/>
          </p:cNvCxnSpPr>
          <p:nvPr/>
        </p:nvCxnSpPr>
        <p:spPr>
          <a:xfrm>
            <a:off x="6298416" y="433698"/>
            <a:ext cx="0" cy="267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図 25" descr="ナイフのcg&#10;&#10;AI 生成コンテンツは誤りを含む可能性があります。">
            <a:extLst>
              <a:ext uri="{FF2B5EF4-FFF2-40B4-BE49-F238E27FC236}">
                <a16:creationId xmlns:a16="http://schemas.microsoft.com/office/drawing/2014/main" id="{D6019F31-255D-2AC1-CE44-907AC48FEC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025" y="3573034"/>
            <a:ext cx="1012587" cy="56958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56398BE-BAB7-6EC8-CB65-D63235DEB67C}"/>
              </a:ext>
            </a:extLst>
          </p:cNvPr>
          <p:cNvSpPr txBox="1"/>
          <p:nvPr/>
        </p:nvSpPr>
        <p:spPr>
          <a:xfrm>
            <a:off x="4724378" y="388183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3-Attacker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74A3B46-FA92-18C6-E9D2-BC160D3469B0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6063067" y="3857824"/>
            <a:ext cx="747958" cy="24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448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ACA2-FBED-8622-7224-C99FB3BC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CFD9604A-362A-9A2D-D62F-CF4B020E2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076" y="122573"/>
            <a:ext cx="7839707" cy="44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AAFFF2F-89C0-06DA-E58D-E4AD472EE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4304" y="225706"/>
            <a:ext cx="8021253" cy="428658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F6E36DF-88A1-527B-EDAA-0D4903192862}"/>
              </a:ext>
            </a:extLst>
          </p:cNvPr>
          <p:cNvSpPr txBox="1"/>
          <p:nvPr/>
        </p:nvSpPr>
        <p:spPr>
          <a:xfrm>
            <a:off x="120520" y="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/>
              <a:t>戦闘画面３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141680E-19BF-A65E-6DD7-C92802900964}"/>
              </a:ext>
            </a:extLst>
          </p:cNvPr>
          <p:cNvCxnSpPr/>
          <p:nvPr/>
        </p:nvCxnSpPr>
        <p:spPr>
          <a:xfrm>
            <a:off x="0" y="488451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F8B2FE64-B447-C68B-9F97-C4F6B161A7C1}"/>
              </a:ext>
            </a:extLst>
          </p:cNvPr>
          <p:cNvSpPr txBox="1"/>
          <p:nvPr/>
        </p:nvSpPr>
        <p:spPr>
          <a:xfrm>
            <a:off x="26749" y="4887410"/>
            <a:ext cx="103412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プレイヤーアタックを仕掛けられた時です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E5-Danger;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危険通告　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):</a:t>
            </a:r>
            <a:r>
              <a:rPr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受け入れる</a:t>
            </a:r>
            <a:b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</a:b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E1-Target: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クリックした対象に配置する。カーソルが重なっている未指定ターゲットは点滅する。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E3-Attacker</a:t>
            </a:r>
            <a:r>
              <a:rPr lang="en-US" altLang="ja-JP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攻撃させるユニットに県のマークを付ける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E6-Shield:</a:t>
            </a:r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ブロック指定したらユニットに表示させる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クリックすると対象選択画面へ</a:t>
            </a:r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kumimoji="1"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endParaRPr kumimoji="1" lang="ja-JP" altLang="en-US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0CEB82B-7C05-54F4-938A-A3733D3F931D}"/>
              </a:ext>
            </a:extLst>
          </p:cNvPr>
          <p:cNvCxnSpPr>
            <a:cxnSpLocks/>
          </p:cNvCxnSpPr>
          <p:nvPr/>
        </p:nvCxnSpPr>
        <p:spPr>
          <a:xfrm flipV="1">
            <a:off x="14756340" y="1422084"/>
            <a:ext cx="0" cy="713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5BA027A-8E36-1B9F-FF89-568ABE15C38C}"/>
              </a:ext>
            </a:extLst>
          </p:cNvPr>
          <p:cNvSpPr txBox="1"/>
          <p:nvPr/>
        </p:nvSpPr>
        <p:spPr>
          <a:xfrm>
            <a:off x="8514325" y="402159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T2-TextButton(</a:t>
            </a:r>
            <a:r>
              <a:rPr kumimoji="1" lang="ja-JP" altLang="en-US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青</a:t>
            </a:r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)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AC19837-118D-A8A1-C0B0-E22AA680179B}"/>
              </a:ext>
            </a:extLst>
          </p:cNvPr>
          <p:cNvCxnSpPr>
            <a:cxnSpLocks/>
          </p:cNvCxnSpPr>
          <p:nvPr/>
        </p:nvCxnSpPr>
        <p:spPr>
          <a:xfrm flipV="1">
            <a:off x="9132282" y="3819479"/>
            <a:ext cx="0" cy="2513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BFC4C6B8-3493-8699-0AC1-B337CE3D7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462" y="3276597"/>
            <a:ext cx="682055" cy="1083263"/>
          </a:xfrm>
          <a:prstGeom prst="rect">
            <a:avLst/>
          </a:prstGeom>
        </p:spPr>
      </p:pic>
      <p:pic>
        <p:nvPicPr>
          <p:cNvPr id="18" name="図 17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48D0FAA2-7FF5-5BEE-59F6-4DEBB113E20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428" y="3311929"/>
            <a:ext cx="1720935" cy="43023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783F88E-12A0-36FB-7929-9CE0D215F42A}"/>
              </a:ext>
            </a:extLst>
          </p:cNvPr>
          <p:cNvSpPr txBox="1"/>
          <p:nvPr/>
        </p:nvSpPr>
        <p:spPr>
          <a:xfrm>
            <a:off x="8810593" y="331192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受け入れる</a:t>
            </a:r>
          </a:p>
        </p:txBody>
      </p:sp>
      <p:pic>
        <p:nvPicPr>
          <p:cNvPr id="5" name="図 4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95D5FA1B-A39D-2E6D-EAA3-17A1A69846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500" y="465854"/>
            <a:ext cx="5747657" cy="188365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7680A0-73F8-3C26-7814-CF30B027BB9D}"/>
              </a:ext>
            </a:extLst>
          </p:cNvPr>
          <p:cNvSpPr txBox="1"/>
          <p:nvPr/>
        </p:nvSpPr>
        <p:spPr>
          <a:xfrm>
            <a:off x="5070613" y="756522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プレイヤーアタックを仕掛けられた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  <a:p>
            <a:r>
              <a:rPr lang="ja-JP" altLang="en-US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ブロックするユニットを選びたまえ</a:t>
            </a:r>
            <a:endParaRPr lang="en-US" altLang="ja-JP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9F9EF22-FF77-3811-5982-D88F4B6E5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740" y="1766478"/>
            <a:ext cx="682055" cy="1083263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C6DEF6A-191C-EA3D-1F8A-640BFC895120}"/>
              </a:ext>
            </a:extLst>
          </p:cNvPr>
          <p:cNvSpPr txBox="1"/>
          <p:nvPr/>
        </p:nvSpPr>
        <p:spPr>
          <a:xfrm>
            <a:off x="6320391" y="170861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T1-TextWidnow</a:t>
            </a:r>
            <a:endParaRPr kumimoji="1" lang="en-US" altLang="ja-JP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57A2222-96BE-042A-968D-F8E8C7BBCA36}"/>
              </a:ext>
            </a:extLst>
          </p:cNvPr>
          <p:cNvCxnSpPr>
            <a:cxnSpLocks/>
          </p:cNvCxnSpPr>
          <p:nvPr/>
        </p:nvCxnSpPr>
        <p:spPr>
          <a:xfrm>
            <a:off x="6298416" y="433698"/>
            <a:ext cx="0" cy="267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F9DB82A7-C925-C05F-6BA2-1973C3E9D9FD}"/>
              </a:ext>
            </a:extLst>
          </p:cNvPr>
          <p:cNvSpPr/>
          <p:nvPr/>
        </p:nvSpPr>
        <p:spPr>
          <a:xfrm>
            <a:off x="3253762" y="3335595"/>
            <a:ext cx="709691" cy="712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3" name="図 32" descr="人, 男, 暗い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AE4C2F1-208A-F015-B215-F1B07B720F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762" y="3335595"/>
            <a:ext cx="712546" cy="712546"/>
          </a:xfrm>
          <a:prstGeom prst="rect">
            <a:avLst/>
          </a:prstGeom>
        </p:spPr>
      </p:pic>
      <p:pic>
        <p:nvPicPr>
          <p:cNvPr id="34" name="図 33" descr="黒い背景とぼやけた背景&#10;&#10;AI 生成コンテンツは誤りを含む可能性があります。">
            <a:extLst>
              <a:ext uri="{FF2B5EF4-FFF2-40B4-BE49-F238E27FC236}">
                <a16:creationId xmlns:a16="http://schemas.microsoft.com/office/drawing/2014/main" id="{FDA715BC-5F0C-B369-844A-F3314843F1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175" y="3084235"/>
            <a:ext cx="2126512" cy="1196163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2982D84-F970-B1A8-46C2-A0AD66CB6EAA}"/>
              </a:ext>
            </a:extLst>
          </p:cNvPr>
          <p:cNvSpPr txBox="1"/>
          <p:nvPr/>
        </p:nvSpPr>
        <p:spPr>
          <a:xfrm>
            <a:off x="4411279" y="401211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E1-Target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36161343-EDD7-BF9D-FB8A-07041E3228F2}"/>
              </a:ext>
            </a:extLst>
          </p:cNvPr>
          <p:cNvCxnSpPr>
            <a:cxnSpLocks/>
          </p:cNvCxnSpPr>
          <p:nvPr/>
        </p:nvCxnSpPr>
        <p:spPr>
          <a:xfrm flipH="1" flipV="1">
            <a:off x="3741980" y="4050096"/>
            <a:ext cx="712448" cy="323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図 36" descr="ナイフのcg&#10;&#10;AI 生成コンテンツは誤りを含む可能性があります。">
            <a:extLst>
              <a:ext uri="{FF2B5EF4-FFF2-40B4-BE49-F238E27FC236}">
                <a16:creationId xmlns:a16="http://schemas.microsoft.com/office/drawing/2014/main" id="{0820D52D-104E-5AE8-30F1-75D07E9E12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473" y="2074410"/>
            <a:ext cx="1012587" cy="569580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F276027-9BAA-BA07-C21C-0C9C51C32568}"/>
              </a:ext>
            </a:extLst>
          </p:cNvPr>
          <p:cNvSpPr txBox="1"/>
          <p:nvPr/>
        </p:nvSpPr>
        <p:spPr>
          <a:xfrm>
            <a:off x="5070613" y="24638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</a:t>
            </a:r>
            <a:r>
              <a:rPr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3-Attacker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F670025-4BED-23EE-017F-9C9CA0430385}"/>
              </a:ext>
            </a:extLst>
          </p:cNvPr>
          <p:cNvCxnSpPr>
            <a:cxnSpLocks/>
          </p:cNvCxnSpPr>
          <p:nvPr/>
        </p:nvCxnSpPr>
        <p:spPr>
          <a:xfrm flipH="1">
            <a:off x="6409302" y="2439789"/>
            <a:ext cx="747958" cy="241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455CBD2-E07F-526C-CBBD-388FFEBF2E9E}"/>
              </a:ext>
            </a:extLst>
          </p:cNvPr>
          <p:cNvSpPr txBox="1"/>
          <p:nvPr/>
        </p:nvSpPr>
        <p:spPr>
          <a:xfrm>
            <a:off x="10882312" y="258075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E5-Danger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70A4F9CC-0CC8-96DC-A7C8-840DD981948B}"/>
              </a:ext>
            </a:extLst>
          </p:cNvPr>
          <p:cNvCxnSpPr>
            <a:cxnSpLocks/>
          </p:cNvCxnSpPr>
          <p:nvPr/>
        </p:nvCxnSpPr>
        <p:spPr>
          <a:xfrm flipH="1" flipV="1">
            <a:off x="10213013" y="2618740"/>
            <a:ext cx="712448" cy="323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図 44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80BA3FB-E520-2FB3-1EED-62DD443453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465" y="3346724"/>
            <a:ext cx="1481255" cy="833206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83399EA-FCDC-7028-0111-4D82B89DD7C8}"/>
              </a:ext>
            </a:extLst>
          </p:cNvPr>
          <p:cNvSpPr txBox="1"/>
          <p:nvPr/>
        </p:nvSpPr>
        <p:spPr>
          <a:xfrm>
            <a:off x="8033681" y="285569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851手書き雑フォント" panose="02000600000000000000" pitchFamily="2" charset="-128"/>
                <a:ea typeface="851手書き雑フォント" panose="02000600000000000000" pitchFamily="2" charset="-128"/>
                <a:cs typeface="851手書き雑フォント" panose="02000600000000000000" pitchFamily="2" charset="-128"/>
              </a:rPr>
              <a:t>E6-Shield</a:t>
            </a:r>
            <a:endParaRPr kumimoji="1" lang="ja-JP" altLang="en-US" b="1" dirty="0">
              <a:latin typeface="851手書き雑フォント" panose="02000600000000000000" pitchFamily="2" charset="-128"/>
              <a:ea typeface="851手書き雑フォント" panose="02000600000000000000" pitchFamily="2" charset="-128"/>
              <a:cs typeface="851手書き雑フォント" panose="02000600000000000000" pitchFamily="2" charset="-128"/>
            </a:endParaRPr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FFF06224-6CBE-1EED-B8BD-98574B28BBE1}"/>
              </a:ext>
            </a:extLst>
          </p:cNvPr>
          <p:cNvCxnSpPr>
            <a:cxnSpLocks/>
          </p:cNvCxnSpPr>
          <p:nvPr/>
        </p:nvCxnSpPr>
        <p:spPr>
          <a:xfrm flipH="1">
            <a:off x="7658795" y="3116336"/>
            <a:ext cx="533968" cy="3453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606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767</Words>
  <Application>Microsoft Office PowerPoint</Application>
  <PresentationFormat>ワイド画面</PresentationFormat>
  <Paragraphs>148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851手書き雑フォント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岩井 新</dc:creator>
  <cp:lastModifiedBy>岩井 新</cp:lastModifiedBy>
  <cp:revision>27</cp:revision>
  <dcterms:created xsi:type="dcterms:W3CDTF">2025-11-01T06:58:19Z</dcterms:created>
  <dcterms:modified xsi:type="dcterms:W3CDTF">2025-11-04T12:54:39Z</dcterms:modified>
</cp:coreProperties>
</file>